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53"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200" b="0" i="0" u="none" strike="noStrike">
                <a:solidFill>
                  <a:srgbClr val="2B2118"/>
                </a:solidFill>
                <a:latin typeface="Cambria"/>
              </a:defRPr>
            </a:pPr>
            <a:r>
              <a:rPr lang="fr-FR" sz="1200" b="0" i="0" u="none" strike="noStrike">
                <a:solidFill>
                  <a:srgbClr val="2B2118"/>
                </a:solidFill>
                <a:latin typeface="Cambria"/>
              </a:rPr>
              <a:t>Précision de test par modèle</a:t>
            </a:r>
          </a:p>
        </c:rich>
      </c:tx>
      <c:overlay val="0"/>
    </c:title>
    <c:autoTitleDeleted val="0"/>
    <c:plotArea>
      <c:layout/>
      <c:barChart>
        <c:barDir val="col"/>
        <c:grouping val="clustered"/>
        <c:varyColors val="0"/>
        <c:ser>
          <c:idx val="0"/>
          <c:order val="0"/>
          <c:tx>
            <c:strRef>
              <c:f>Sheet1!$B$1</c:f>
              <c:strCache>
                <c:ptCount val="1"/>
                <c:pt idx="0">
                  <c:v>Précision de test (%)</c:v>
                </c:pt>
              </c:strCache>
            </c:strRef>
          </c:tx>
          <c:spPr>
            <a:solidFill>
              <a:srgbClr val="C4552D"/>
            </a:solidFill>
            <a:effectLst/>
          </c:spPr>
          <c:invertIfNegative val="0"/>
          <c:dLbls>
            <c:numFmt formatCode="#,##0" sourceLinked="0"/>
            <c:spPr>
              <a:noFill/>
              <a:ln>
                <a:noFill/>
              </a:ln>
              <a:effectLst/>
            </c:spPr>
            <c:txPr>
              <a:bodyPr/>
              <a:lstStyle/>
              <a:p>
                <a:pPr>
                  <a:defRPr sz="1000" b="0" i="0" u="none" strike="noStrike">
                    <a:solidFill>
                      <a:srgbClr val="2B2118"/>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Rosenblatt</c:v>
                </c:pt>
                <c:pt idx="1">
                  <c:v>RBFN</c:v>
                </c:pt>
                <c:pt idx="2">
                  <c:v>SVM</c:v>
                </c:pt>
                <c:pt idx="3">
                  <c:v>MLP</c:v>
                </c:pt>
              </c:strCache>
            </c:strRef>
          </c:cat>
          <c:val>
            <c:numRef>
              <c:f>Sheet1!$B$2:$B$5</c:f>
              <c:numCache>
                <c:formatCode>General</c:formatCode>
                <c:ptCount val="4"/>
                <c:pt idx="0">
                  <c:v>42</c:v>
                </c:pt>
                <c:pt idx="1">
                  <c:v>54</c:v>
                </c:pt>
                <c:pt idx="2">
                  <c:v>54.3</c:v>
                </c:pt>
                <c:pt idx="3">
                  <c:v>56</c:v>
                </c:pt>
              </c:numCache>
            </c:numRef>
          </c:val>
          <c:extLst>
            <c:ext xmlns:c16="http://schemas.microsoft.com/office/drawing/2014/chart" uri="{C3380CC4-5D6E-409C-BE32-E72D297353CC}">
              <c16:uniqueId val="{00000000-872A-4ED6-8139-A9680AF44CC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5E4E"/>
                </a:solidFill>
                <a:latin typeface="Arial"/>
              </a:defRPr>
            </a:pPr>
            <a:endParaRPr lang="en-US"/>
          </a:p>
        </c:txPr>
        <c:crossAx val="2094734552"/>
        <c:crosses val="autoZero"/>
        <c:auto val="1"/>
        <c:lblAlgn val="ctr"/>
        <c:lblOffset val="100"/>
        <c:noMultiLvlLbl val="1"/>
      </c:catAx>
      <c:valAx>
        <c:axId val="2094734552"/>
        <c:scaling>
          <c:orientation val="minMax"/>
          <c:max val="70"/>
          <c:min val="0"/>
        </c:scaling>
        <c:delete val="0"/>
        <c:axPos val="l"/>
        <c:majorGridlines>
          <c:spPr>
            <a:ln w="6350" cap="flat">
              <a:solidFill>
                <a:srgbClr val="E5DC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E5E4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2588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Logistique à ne pas oublier : une seule machine pour toute la présentation, adaptateur HDMI testé avant, tenue et attitude correctes. Accueillir le jury, annoncer le plan : équipe, contexte, problématique, dataset, expérimentations, démo, conclusion.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orale de chacun : nom, parcours, rôle précis dans le projet. Remplacer les cercles par de vraies photos et compléter les contributions de chacun.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 détailler cette slide au premier passage de la journée ; possibilité d'aller plus vite ensuite. Insister : from scratch = pas de scikit-learn, pas de PyTorch. Seule exception assumée : OSQP pour résoudre le programme quadratique du SVM, et YOLOv8 uniquement en préparation de données, jamais dans les classifieurs.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Dérouler : exemples évidents d'abord, puis ambigus. Montrer qu'aucun seuil de couleur ne sépare un lion d'un guépard (pelages fauves identiques). Conclure sur la nécessité d'un modèle qui apprend ses propres frontières de décision.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Anticiper la question du jury sur YOLOv8 : outil de préparation de données uniquement, comme un stagiaire qui recadre les photos ; aucun de nos quatre modèles ne l'utilise. Mentionner le problème des JPEG en mode palette résolu par conversion RGB.</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l'interop demandée par le sujet : Rust compile en bibliothèque dynamique, exposée en C, appelée par cffi côté Python. Le même binaire sert aux exécutables natifs, aux scripts d'expérimentation et à l'interface Gradio.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Justifier le choix « du pire au meilleur » : cela raconte la montée en capacité expressive (linéaire → non linéaire) et garde le meilleur résultat pour la fin. Précisions données = précision de test.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 le linéaire ne suffit pas — c'est la justification empirique des modèles non linéaires. La solution dégénérée est localement rationnelle : toujours prédire la classe majoritaire donne ~33 %. Bien légender les courbes insérées (axes, courbes apprentissage vs test).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comparaison naïf / K centres est la démonstration la plus limpide du projet : 60 points d'écart entre apprentissage et test pour la version naïve. Mentionner la régularisation ridge rendue nécessaire par les matrices singulières en 3072 dimensions.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Raconter l'épisode marge dure : le premier lancement a « paniqué » — pas un bug, un fait mathématique (pas de solution réalisable sur classes entrelacées). Le SVM entraîné sur un sous-échantillon à cause du coût quadratique, mais évalué sur un test large pour rester comparable.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pivot : raconter le double échec initial (sur- puis sous-apprentissage) qui a motivé les caractéristiques extraites — c'est le compromis biais-variance vécu sur données réelles. La figure exp5 (100 % apprentissage / ~42 % test, zone colorée qui s'élargit) est la plus lisible en soutenance.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remarquer le 100 % / 54,3 % du SVM : mémorisation parfaite sans généralisation supérieure. Hiérarchie cohérente avec la complexité des modèles. Le profil d'erreur par classe est l'argument le plus original à défendre devant le jury.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jury attend cette slide : montrer qu'on a diagnostiqué, pas juste subi. Le bug += est le meilleur argument pour les 100+ tests unitaires : invisible sur les cas simples (0+0), révélé par un cas à deux dimensions non nulles. Autres épisodes en réserve si questions : module Rust non déclaré, compilation OSQP (CMake), matrice de confusion du mauvais réglage (constantes codées en dur).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Terminer sur la thèse centrale : la performance dépend au moins autant de la représentation des données que du modèle. Les CNN sont la suite logique précisément parce qu'ils apprennent leurs représentations. Inviter les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118"/>
        </a:solidFill>
        <a:effectLst/>
      </p:bgPr>
    </p:bg>
    <p:spTree>
      <p:nvGrpSpPr>
        <p:cNvPr id="1" name=""/>
        <p:cNvGrpSpPr/>
        <p:nvPr/>
      </p:nvGrpSpPr>
      <p:grpSpPr>
        <a:xfrm>
          <a:off x="0" y="0"/>
          <a:ext cx="0" cy="0"/>
          <a:chOff x="0" y="0"/>
          <a:chExt cx="0" cy="0"/>
        </a:xfrm>
      </p:grpSpPr>
      <p:sp>
        <p:nvSpPr>
          <p:cNvPr id="2" name="Shape 0"/>
          <p:cNvSpPr/>
          <p:nvPr/>
        </p:nvSpPr>
        <p:spPr>
          <a:xfrm>
            <a:off x="9326880" y="-1463040"/>
            <a:ext cx="4754880" cy="4754880"/>
          </a:xfrm>
          <a:prstGeom prst="ellipse">
            <a:avLst/>
          </a:prstGeom>
          <a:solidFill>
            <a:srgbClr val="C4552D">
              <a:alpha val="18000"/>
            </a:srgbClr>
          </a:solidFill>
          <a:ln/>
        </p:spPr>
        <p:txBody>
          <a:bodyPr/>
          <a:lstStyle/>
          <a:p>
            <a:endParaRPr lang="fr-FR"/>
          </a:p>
        </p:txBody>
      </p:sp>
      <p:sp>
        <p:nvSpPr>
          <p:cNvPr id="3" name="Shape 1"/>
          <p:cNvSpPr/>
          <p:nvPr/>
        </p:nvSpPr>
        <p:spPr>
          <a:xfrm>
            <a:off x="-1645920" y="4572000"/>
            <a:ext cx="4206240" cy="4206240"/>
          </a:xfrm>
          <a:prstGeom prst="ellipse">
            <a:avLst/>
          </a:prstGeom>
          <a:solidFill>
            <a:srgbClr val="C4552D">
              <a:alpha val="14000"/>
            </a:srgbClr>
          </a:solidFill>
          <a:ln/>
        </p:spPr>
        <p:txBody>
          <a:bodyPr/>
          <a:lstStyle/>
          <a:p>
            <a:endParaRPr lang="fr-FR"/>
          </a:p>
        </p:txBody>
      </p:sp>
      <p:sp>
        <p:nvSpPr>
          <p:cNvPr id="4" name="Text 2"/>
          <p:cNvSpPr/>
          <p:nvPr/>
        </p:nvSpPr>
        <p:spPr>
          <a:xfrm>
            <a:off x="822960" y="1234440"/>
            <a:ext cx="10515600" cy="365760"/>
          </a:xfrm>
          <a:prstGeom prst="rect">
            <a:avLst/>
          </a:prstGeom>
          <a:noFill/>
          <a:ln/>
        </p:spPr>
        <p:txBody>
          <a:bodyPr wrap="square" lIns="0" tIns="0" rIns="0" bIns="0" rtlCol="0" anchor="ctr"/>
          <a:lstStyle/>
          <a:p>
            <a:pPr marL="0" indent="0">
              <a:buNone/>
            </a:pPr>
            <a:r>
              <a:rPr lang="en-US" sz="1500" b="1" kern="0" spc="300" dirty="0">
                <a:solidFill>
                  <a:srgbClr val="C4552D"/>
                </a:solidFill>
                <a:latin typeface="Calibri" pitchFamily="34" charset="0"/>
                <a:ea typeface="Calibri" pitchFamily="34" charset="-122"/>
                <a:cs typeface="Calibri" pitchFamily="34" charset="-120"/>
              </a:rPr>
              <a:t>PROJET ANNUEL — SOUTENANCE</a:t>
            </a:r>
            <a:endParaRPr lang="en-US" sz="1500" dirty="0"/>
          </a:p>
        </p:txBody>
      </p:sp>
      <p:sp>
        <p:nvSpPr>
          <p:cNvPr id="5" name="Text 3"/>
          <p:cNvSpPr/>
          <p:nvPr/>
        </p:nvSpPr>
        <p:spPr>
          <a:xfrm>
            <a:off x="822960" y="1691640"/>
            <a:ext cx="10515600" cy="182880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Classification d'images de félins</a:t>
            </a:r>
            <a:endParaRPr lang="en-US" sz="3300" dirty="0"/>
          </a:p>
          <a:p>
            <a:pPr marL="0" indent="0">
              <a:buNone/>
            </a:pPr>
            <a:r>
              <a:rPr lang="en-US" sz="3300" b="1" dirty="0">
                <a:solidFill>
                  <a:srgbClr val="FFFFFF"/>
                </a:solidFill>
                <a:latin typeface="Cambria" pitchFamily="34" charset="0"/>
                <a:ea typeface="Cambria" pitchFamily="34" charset="-122"/>
                <a:cs typeface="Cambria" pitchFamily="34" charset="-120"/>
              </a:rPr>
              <a:t>par des modèles implémentés from scratch en Rust</a:t>
            </a:r>
            <a:endParaRPr lang="en-US" sz="3300" dirty="0"/>
          </a:p>
        </p:txBody>
      </p:sp>
      <p:sp>
        <p:nvSpPr>
          <p:cNvPr id="6" name="Text 4"/>
          <p:cNvSpPr/>
          <p:nvPr/>
        </p:nvSpPr>
        <p:spPr>
          <a:xfrm>
            <a:off x="822960" y="3657600"/>
            <a:ext cx="10515600" cy="457200"/>
          </a:xfrm>
          <a:prstGeom prst="rect">
            <a:avLst/>
          </a:prstGeom>
          <a:noFill/>
          <a:ln/>
        </p:spPr>
        <p:txBody>
          <a:bodyPr wrap="square" lIns="0" tIns="0" rIns="0" bIns="0" rtlCol="0" anchor="ctr"/>
          <a:lstStyle/>
          <a:p>
            <a:pPr marL="0" indent="0">
              <a:buNone/>
            </a:pPr>
            <a:r>
              <a:rPr lang="en-US" sz="1800" i="1" dirty="0">
                <a:solidFill>
                  <a:srgbClr val="F2EAD9"/>
                </a:solidFill>
                <a:latin typeface="Calibri" pitchFamily="34" charset="0"/>
                <a:ea typeface="Calibri" pitchFamily="34" charset="-122"/>
                <a:cs typeface="Calibri" pitchFamily="34" charset="-120"/>
              </a:rPr>
              <a:t>felidae_classifier  —  chat · lion · guépard</a:t>
            </a:r>
            <a:endParaRPr lang="en-US" sz="1800" dirty="0"/>
          </a:p>
        </p:txBody>
      </p:sp>
      <p:sp>
        <p:nvSpPr>
          <p:cNvPr id="7" name="Text 5"/>
          <p:cNvSpPr/>
          <p:nvPr/>
        </p:nvSpPr>
        <p:spPr>
          <a:xfrm>
            <a:off x="822960" y="5760720"/>
            <a:ext cx="10515600" cy="457200"/>
          </a:xfrm>
          <a:prstGeom prst="rect">
            <a:avLst/>
          </a:prstGeom>
          <a:noFill/>
          <a:ln/>
        </p:spPr>
        <p:txBody>
          <a:bodyPr wrap="square" lIns="0" tIns="0" rIns="0" bIns="0" rtlCol="0" anchor="ctr"/>
          <a:lstStyle/>
          <a:p>
            <a:pPr marL="0" indent="0">
              <a:buNone/>
            </a:pPr>
            <a:r>
              <a:rPr lang="en-US" sz="1500" dirty="0">
                <a:solidFill>
                  <a:srgbClr val="F2EAD9"/>
                </a:solidFill>
                <a:latin typeface="Calibri" pitchFamily="34" charset="0"/>
                <a:ea typeface="Calibri" pitchFamily="34" charset="-122"/>
                <a:cs typeface="Calibri" pitchFamily="34" charset="-120"/>
              </a:rPr>
              <a:t>Léo Croft  &amp;  Eric Sang   |   ESGI — 3IABD2</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B2118"/>
                </a:solidFill>
                <a:latin typeface="Cambria" pitchFamily="34" charset="0"/>
                <a:ea typeface="Cambria" pitchFamily="34" charset="-122"/>
                <a:cs typeface="Cambria" pitchFamily="34" charset="-120"/>
              </a:rPr>
              <a:t>L'équipe</a:t>
            </a:r>
            <a:endParaRPr lang="en-US" sz="30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marL="0" indent="0">
              <a:buNone/>
            </a:pPr>
            <a:r>
              <a:rPr lang="en-US" sz="1400" i="1" dirty="0">
                <a:solidFill>
                  <a:srgbClr val="6E5E4E"/>
                </a:solidFill>
                <a:latin typeface="Calibri" pitchFamily="34" charset="0"/>
                <a:ea typeface="Calibri" pitchFamily="34" charset="-122"/>
                <a:cs typeface="Calibri" pitchFamily="34" charset="-120"/>
              </a:rPr>
              <a:t>3IABD2 — ESGI</a:t>
            </a:r>
            <a:endParaRPr lang="en-US" sz="1400" dirty="0"/>
          </a:p>
        </p:txBody>
      </p:sp>
      <p:sp>
        <p:nvSpPr>
          <p:cNvPr id="4" name="Shape 2"/>
          <p:cNvSpPr/>
          <p:nvPr/>
        </p:nvSpPr>
        <p:spPr>
          <a:xfrm>
            <a:off x="861536" y="1737360"/>
            <a:ext cx="4389120" cy="4206240"/>
          </a:xfrm>
          <a:prstGeom prst="roundRect">
            <a:avLst>
              <a:gd name="adj" fmla="val 2174"/>
            </a:avLst>
          </a:prstGeom>
          <a:solidFill>
            <a:srgbClr val="F2EAD9"/>
          </a:solidFill>
          <a:ln/>
          <a:effectLst>
            <a:outerShdw blurRad="76200" dist="38100" dir="5400000" algn="bl" rotWithShape="0">
              <a:srgbClr val="000000">
                <a:alpha val="25000"/>
              </a:srgbClr>
            </a:outerShdw>
          </a:effectLst>
        </p:spPr>
        <p:txBody>
          <a:bodyPr/>
          <a:lstStyle/>
          <a:p>
            <a:endParaRPr lang="fr-FR" dirty="0"/>
          </a:p>
        </p:txBody>
      </p:sp>
      <p:sp>
        <p:nvSpPr>
          <p:cNvPr id="5" name="Shape 3"/>
          <p:cNvSpPr/>
          <p:nvPr/>
        </p:nvSpPr>
        <p:spPr>
          <a:xfrm>
            <a:off x="2328247" y="2057400"/>
            <a:ext cx="1554480" cy="1554480"/>
          </a:xfrm>
          <a:prstGeom prst="ellipse">
            <a:avLst/>
          </a:prstGeom>
          <a:solidFill>
            <a:srgbClr val="C4552D"/>
          </a:solidFill>
          <a:ln w="12700">
            <a:solidFill>
              <a:srgbClr val="2B2118"/>
            </a:solidFill>
            <a:prstDash val="solid"/>
          </a:ln>
        </p:spPr>
        <p:txBody>
          <a:bodyPr/>
          <a:lstStyle/>
          <a:p>
            <a:endParaRPr lang="fr-FR"/>
          </a:p>
        </p:txBody>
      </p:sp>
      <p:sp>
        <p:nvSpPr>
          <p:cNvPr id="6" name="Text 4"/>
          <p:cNvSpPr/>
          <p:nvPr/>
        </p:nvSpPr>
        <p:spPr>
          <a:xfrm>
            <a:off x="2328247" y="2057400"/>
            <a:ext cx="1554480" cy="155448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LC</a:t>
            </a:r>
            <a:endParaRPr lang="en-US" sz="3000" dirty="0"/>
          </a:p>
        </p:txBody>
      </p:sp>
      <p:sp>
        <p:nvSpPr>
          <p:cNvPr id="7" name="Text 5"/>
          <p:cNvSpPr/>
          <p:nvPr/>
        </p:nvSpPr>
        <p:spPr>
          <a:xfrm>
            <a:off x="1276687" y="3675888"/>
            <a:ext cx="3657600" cy="274320"/>
          </a:xfrm>
          <a:prstGeom prst="rect">
            <a:avLst/>
          </a:prstGeom>
          <a:noFill/>
          <a:ln/>
        </p:spPr>
        <p:txBody>
          <a:bodyPr wrap="square" lIns="0" tIns="0" rIns="0" bIns="0" rtlCol="0" anchor="ctr"/>
          <a:lstStyle/>
          <a:p>
            <a:pPr marL="0" indent="0" algn="ctr">
              <a:buNone/>
            </a:pPr>
            <a:r>
              <a:rPr lang="en-US" sz="950" i="1" dirty="0">
                <a:solidFill>
                  <a:srgbClr val="6E5E4E"/>
                </a:solidFill>
                <a:latin typeface="Calibri" pitchFamily="34" charset="0"/>
                <a:ea typeface="Calibri" pitchFamily="34" charset="-122"/>
                <a:cs typeface="Calibri" pitchFamily="34" charset="-120"/>
              </a:rPr>
              <a:t>← remplacer par une photo</a:t>
            </a:r>
            <a:endParaRPr lang="en-US" sz="950" dirty="0"/>
          </a:p>
        </p:txBody>
      </p:sp>
      <p:sp>
        <p:nvSpPr>
          <p:cNvPr id="8" name="Text 6"/>
          <p:cNvSpPr/>
          <p:nvPr/>
        </p:nvSpPr>
        <p:spPr>
          <a:xfrm>
            <a:off x="1276687" y="4023360"/>
            <a:ext cx="3657600" cy="457200"/>
          </a:xfrm>
          <a:prstGeom prst="rect">
            <a:avLst/>
          </a:prstGeom>
          <a:noFill/>
          <a:ln/>
        </p:spPr>
        <p:txBody>
          <a:bodyPr wrap="square" lIns="0" tIns="0" rIns="0" bIns="0" rtlCol="0" anchor="ctr"/>
          <a:lstStyle/>
          <a:p>
            <a:pPr marL="0" indent="0" algn="ctr">
              <a:buNone/>
            </a:pPr>
            <a:r>
              <a:rPr lang="en-US" sz="2100" b="1" dirty="0">
                <a:solidFill>
                  <a:srgbClr val="2B2118"/>
                </a:solidFill>
                <a:latin typeface="Cambria" pitchFamily="34" charset="0"/>
                <a:ea typeface="Cambria" pitchFamily="34" charset="-122"/>
                <a:cs typeface="Cambria" pitchFamily="34" charset="-120"/>
              </a:rPr>
              <a:t>Léo Croft</a:t>
            </a:r>
            <a:endParaRPr lang="en-US" sz="2100" dirty="0"/>
          </a:p>
        </p:txBody>
      </p:sp>
      <p:sp>
        <p:nvSpPr>
          <p:cNvPr id="9" name="Text 7"/>
          <p:cNvSpPr/>
          <p:nvPr/>
        </p:nvSpPr>
        <p:spPr>
          <a:xfrm>
            <a:off x="1276687" y="4526280"/>
            <a:ext cx="3657600" cy="1188720"/>
          </a:xfrm>
          <a:prstGeom prst="rect">
            <a:avLst/>
          </a:prstGeom>
          <a:noFill/>
          <a:ln/>
        </p:spPr>
        <p:txBody>
          <a:bodyPr wrap="square" lIns="0" tIns="0" rIns="0" bIns="0" rtlCol="0" anchor="ctr"/>
          <a:lstStyle/>
          <a:p>
            <a:pPr marL="0" indent="0" algn="ctr">
              <a:buNone/>
            </a:pPr>
            <a:r>
              <a:rPr lang="en-US" sz="1250" dirty="0">
                <a:solidFill>
                  <a:srgbClr val="6E5E4E"/>
                </a:solidFill>
                <a:latin typeface="Calibri" pitchFamily="34" charset="0"/>
                <a:ea typeface="Calibri" pitchFamily="34" charset="-122"/>
                <a:cs typeface="Calibri" pitchFamily="34" charset="-120"/>
              </a:rPr>
              <a:t> </a:t>
            </a:r>
            <a:endParaRPr lang="en-US" sz="1250" dirty="0"/>
          </a:p>
        </p:txBody>
      </p:sp>
      <p:sp>
        <p:nvSpPr>
          <p:cNvPr id="29" name="Shape 2">
            <a:extLst>
              <a:ext uri="{FF2B5EF4-FFF2-40B4-BE49-F238E27FC236}">
                <a16:creationId xmlns:a16="http://schemas.microsoft.com/office/drawing/2014/main" id="{F5FED177-B310-133E-6FD3-3B57A97EF4E7}"/>
              </a:ext>
            </a:extLst>
          </p:cNvPr>
          <p:cNvSpPr/>
          <p:nvPr/>
        </p:nvSpPr>
        <p:spPr>
          <a:xfrm>
            <a:off x="3931920" y="144452"/>
            <a:ext cx="4389120" cy="4206240"/>
          </a:xfrm>
          <a:prstGeom prst="roundRect">
            <a:avLst>
              <a:gd name="adj" fmla="val 2174"/>
            </a:avLst>
          </a:prstGeom>
          <a:solidFill>
            <a:srgbClr val="F2EAD9"/>
          </a:solidFill>
          <a:ln/>
          <a:effectLst>
            <a:outerShdw blurRad="76200" dist="38100" dir="5400000" algn="bl" rotWithShape="0">
              <a:srgbClr val="000000">
                <a:alpha val="25000"/>
              </a:srgbClr>
            </a:outerShdw>
          </a:effectLst>
        </p:spPr>
        <p:txBody>
          <a:bodyPr/>
          <a:lstStyle/>
          <a:p>
            <a:endParaRPr lang="fr-FR"/>
          </a:p>
        </p:txBody>
      </p:sp>
      <p:sp>
        <p:nvSpPr>
          <p:cNvPr id="31" name="Shape 3">
            <a:extLst>
              <a:ext uri="{FF2B5EF4-FFF2-40B4-BE49-F238E27FC236}">
                <a16:creationId xmlns:a16="http://schemas.microsoft.com/office/drawing/2014/main" id="{7A1663BB-24DB-0770-6CAE-37E2F7D6850B}"/>
              </a:ext>
            </a:extLst>
          </p:cNvPr>
          <p:cNvSpPr/>
          <p:nvPr/>
        </p:nvSpPr>
        <p:spPr>
          <a:xfrm>
            <a:off x="5349240" y="464492"/>
            <a:ext cx="1554480" cy="1554480"/>
          </a:xfrm>
          <a:prstGeom prst="ellipse">
            <a:avLst/>
          </a:prstGeom>
          <a:solidFill>
            <a:srgbClr val="C4552D"/>
          </a:solidFill>
          <a:ln w="12700">
            <a:solidFill>
              <a:srgbClr val="2B2118"/>
            </a:solidFill>
            <a:prstDash val="solid"/>
          </a:ln>
        </p:spPr>
        <p:txBody>
          <a:bodyPr/>
          <a:lstStyle/>
          <a:p>
            <a:endParaRPr lang="fr-FR"/>
          </a:p>
        </p:txBody>
      </p:sp>
      <p:sp>
        <p:nvSpPr>
          <p:cNvPr id="33" name="Text 4">
            <a:extLst>
              <a:ext uri="{FF2B5EF4-FFF2-40B4-BE49-F238E27FC236}">
                <a16:creationId xmlns:a16="http://schemas.microsoft.com/office/drawing/2014/main" id="{B775B23A-8843-DB66-5C60-4CDF9BA0E9AF}"/>
              </a:ext>
            </a:extLst>
          </p:cNvPr>
          <p:cNvSpPr/>
          <p:nvPr/>
        </p:nvSpPr>
        <p:spPr>
          <a:xfrm>
            <a:off x="5349240" y="464492"/>
            <a:ext cx="1554480" cy="155448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rPr>
              <a:t>BM</a:t>
            </a:r>
            <a:endParaRPr lang="en-US" sz="3000" dirty="0"/>
          </a:p>
        </p:txBody>
      </p:sp>
      <p:sp>
        <p:nvSpPr>
          <p:cNvPr id="35" name="Text 5">
            <a:extLst>
              <a:ext uri="{FF2B5EF4-FFF2-40B4-BE49-F238E27FC236}">
                <a16:creationId xmlns:a16="http://schemas.microsoft.com/office/drawing/2014/main" id="{2399DDAA-63E3-9E6B-F7AC-82B98A3E9841}"/>
              </a:ext>
            </a:extLst>
          </p:cNvPr>
          <p:cNvSpPr/>
          <p:nvPr/>
        </p:nvSpPr>
        <p:spPr>
          <a:xfrm>
            <a:off x="4297680" y="2082980"/>
            <a:ext cx="3657600" cy="274320"/>
          </a:xfrm>
          <a:prstGeom prst="rect">
            <a:avLst/>
          </a:prstGeom>
          <a:noFill/>
          <a:ln/>
        </p:spPr>
        <p:txBody>
          <a:bodyPr wrap="square" lIns="0" tIns="0" rIns="0" bIns="0" rtlCol="0" anchor="ctr"/>
          <a:lstStyle/>
          <a:p>
            <a:pPr marL="0" indent="0" algn="ctr">
              <a:buNone/>
            </a:pPr>
            <a:r>
              <a:rPr lang="en-US" sz="950" i="1" dirty="0">
                <a:solidFill>
                  <a:srgbClr val="6E5E4E"/>
                </a:solidFill>
                <a:latin typeface="Calibri" pitchFamily="34" charset="0"/>
                <a:ea typeface="Calibri" pitchFamily="34" charset="-122"/>
                <a:cs typeface="Calibri" pitchFamily="34" charset="-120"/>
              </a:rPr>
              <a:t>← remplacer par une photo</a:t>
            </a:r>
            <a:endParaRPr lang="en-US" sz="950" dirty="0"/>
          </a:p>
        </p:txBody>
      </p:sp>
      <p:sp>
        <p:nvSpPr>
          <p:cNvPr id="37" name="Text 6">
            <a:extLst>
              <a:ext uri="{FF2B5EF4-FFF2-40B4-BE49-F238E27FC236}">
                <a16:creationId xmlns:a16="http://schemas.microsoft.com/office/drawing/2014/main" id="{0974F7F2-CEAB-B10F-6051-A0BFC5DF7616}"/>
              </a:ext>
            </a:extLst>
          </p:cNvPr>
          <p:cNvSpPr/>
          <p:nvPr/>
        </p:nvSpPr>
        <p:spPr>
          <a:xfrm>
            <a:off x="4297680" y="2430452"/>
            <a:ext cx="3657600" cy="457200"/>
          </a:xfrm>
          <a:prstGeom prst="rect">
            <a:avLst/>
          </a:prstGeom>
          <a:noFill/>
          <a:ln/>
        </p:spPr>
        <p:txBody>
          <a:bodyPr wrap="square" lIns="0" tIns="0" rIns="0" bIns="0" rtlCol="0" anchor="ctr"/>
          <a:lstStyle/>
          <a:p>
            <a:pPr marL="0" indent="0" algn="ctr">
              <a:buNone/>
            </a:pPr>
            <a:r>
              <a:rPr lang="en-US" sz="2100" b="1" dirty="0">
                <a:solidFill>
                  <a:srgbClr val="2B2118"/>
                </a:solidFill>
                <a:latin typeface="Cambria" pitchFamily="34" charset="0"/>
                <a:ea typeface="Cambria" pitchFamily="34" charset="-122"/>
              </a:rPr>
              <a:t>Bryan </a:t>
            </a:r>
            <a:r>
              <a:rPr lang="en-US" sz="2100" b="1" dirty="0" err="1">
                <a:solidFill>
                  <a:srgbClr val="2B2118"/>
                </a:solidFill>
                <a:latin typeface="Cambria" pitchFamily="34" charset="0"/>
                <a:ea typeface="Cambria" pitchFamily="34" charset="-122"/>
              </a:rPr>
              <a:t>Mathurel</a:t>
            </a:r>
            <a:endParaRPr lang="en-US" sz="2100" dirty="0"/>
          </a:p>
        </p:txBody>
      </p:sp>
      <p:sp>
        <p:nvSpPr>
          <p:cNvPr id="39" name="Text 7">
            <a:extLst>
              <a:ext uri="{FF2B5EF4-FFF2-40B4-BE49-F238E27FC236}">
                <a16:creationId xmlns:a16="http://schemas.microsoft.com/office/drawing/2014/main" id="{6A263398-AE89-1556-858D-ACAFB3FC7543}"/>
              </a:ext>
            </a:extLst>
          </p:cNvPr>
          <p:cNvSpPr/>
          <p:nvPr/>
        </p:nvSpPr>
        <p:spPr>
          <a:xfrm>
            <a:off x="4297680" y="2933372"/>
            <a:ext cx="3657600" cy="1188720"/>
          </a:xfrm>
          <a:prstGeom prst="rect">
            <a:avLst/>
          </a:prstGeom>
          <a:noFill/>
          <a:ln/>
        </p:spPr>
        <p:txBody>
          <a:bodyPr wrap="square" lIns="0" tIns="0" rIns="0" bIns="0" rtlCol="0" anchor="ctr"/>
          <a:lstStyle/>
          <a:p>
            <a:pPr marL="0" indent="0" algn="ctr">
              <a:buNone/>
            </a:pPr>
            <a:endParaRPr lang="en-US" sz="1250" dirty="0"/>
          </a:p>
        </p:txBody>
      </p:sp>
      <p:sp>
        <p:nvSpPr>
          <p:cNvPr id="10" name="Shape 8"/>
          <p:cNvSpPr/>
          <p:nvPr/>
        </p:nvSpPr>
        <p:spPr>
          <a:xfrm>
            <a:off x="6941345" y="1737360"/>
            <a:ext cx="4389120" cy="4206240"/>
          </a:xfrm>
          <a:prstGeom prst="roundRect">
            <a:avLst>
              <a:gd name="adj" fmla="val 2174"/>
            </a:avLst>
          </a:prstGeom>
          <a:solidFill>
            <a:srgbClr val="F2EAD9"/>
          </a:solidFill>
          <a:ln/>
          <a:effectLst>
            <a:outerShdw blurRad="76200" dist="38100" dir="5400000" algn="bl" rotWithShape="0">
              <a:srgbClr val="000000">
                <a:alpha val="25000"/>
              </a:srgbClr>
            </a:outerShdw>
          </a:effectLst>
        </p:spPr>
        <p:txBody>
          <a:bodyPr/>
          <a:lstStyle/>
          <a:p>
            <a:endParaRPr lang="fr-FR"/>
          </a:p>
        </p:txBody>
      </p:sp>
      <p:sp>
        <p:nvSpPr>
          <p:cNvPr id="11" name="Shape 9"/>
          <p:cNvSpPr/>
          <p:nvPr/>
        </p:nvSpPr>
        <p:spPr>
          <a:xfrm>
            <a:off x="8358665" y="2057400"/>
            <a:ext cx="1554480" cy="1554480"/>
          </a:xfrm>
          <a:prstGeom prst="ellipse">
            <a:avLst/>
          </a:prstGeom>
          <a:solidFill>
            <a:srgbClr val="C4552D"/>
          </a:solidFill>
          <a:ln w="12700">
            <a:solidFill>
              <a:srgbClr val="2B2118"/>
            </a:solidFill>
            <a:prstDash val="solid"/>
          </a:ln>
        </p:spPr>
        <p:txBody>
          <a:bodyPr/>
          <a:lstStyle/>
          <a:p>
            <a:endParaRPr lang="fr-FR"/>
          </a:p>
        </p:txBody>
      </p:sp>
      <p:sp>
        <p:nvSpPr>
          <p:cNvPr id="12" name="Text 10"/>
          <p:cNvSpPr/>
          <p:nvPr/>
        </p:nvSpPr>
        <p:spPr>
          <a:xfrm>
            <a:off x="8358665" y="2057400"/>
            <a:ext cx="1554480" cy="155448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ES</a:t>
            </a:r>
            <a:endParaRPr lang="en-US" sz="3000" dirty="0"/>
          </a:p>
        </p:txBody>
      </p:sp>
      <p:sp>
        <p:nvSpPr>
          <p:cNvPr id="13" name="Text 11"/>
          <p:cNvSpPr/>
          <p:nvPr/>
        </p:nvSpPr>
        <p:spPr>
          <a:xfrm>
            <a:off x="7307105" y="3675888"/>
            <a:ext cx="3657600" cy="274320"/>
          </a:xfrm>
          <a:prstGeom prst="rect">
            <a:avLst/>
          </a:prstGeom>
          <a:noFill/>
          <a:ln/>
        </p:spPr>
        <p:txBody>
          <a:bodyPr wrap="square" lIns="0" tIns="0" rIns="0" bIns="0" rtlCol="0" anchor="ctr"/>
          <a:lstStyle/>
          <a:p>
            <a:pPr marL="0" indent="0" algn="ctr">
              <a:buNone/>
            </a:pPr>
            <a:r>
              <a:rPr lang="en-US" sz="950" i="1" dirty="0">
                <a:solidFill>
                  <a:srgbClr val="6E5E4E"/>
                </a:solidFill>
                <a:latin typeface="Calibri" pitchFamily="34" charset="0"/>
                <a:ea typeface="Calibri" pitchFamily="34" charset="-122"/>
                <a:cs typeface="Calibri" pitchFamily="34" charset="-120"/>
              </a:rPr>
              <a:t>← remplacer par une photo</a:t>
            </a:r>
            <a:endParaRPr lang="en-US" sz="950" dirty="0"/>
          </a:p>
        </p:txBody>
      </p:sp>
      <p:sp>
        <p:nvSpPr>
          <p:cNvPr id="14" name="Text 12"/>
          <p:cNvSpPr/>
          <p:nvPr/>
        </p:nvSpPr>
        <p:spPr>
          <a:xfrm>
            <a:off x="7307105" y="4023360"/>
            <a:ext cx="3657600" cy="457200"/>
          </a:xfrm>
          <a:prstGeom prst="rect">
            <a:avLst/>
          </a:prstGeom>
          <a:noFill/>
          <a:ln/>
        </p:spPr>
        <p:txBody>
          <a:bodyPr wrap="square" lIns="0" tIns="0" rIns="0" bIns="0" rtlCol="0" anchor="ctr"/>
          <a:lstStyle/>
          <a:p>
            <a:pPr marL="0" indent="0" algn="ctr">
              <a:buNone/>
            </a:pPr>
            <a:r>
              <a:rPr lang="en-US" sz="2100" b="1" dirty="0">
                <a:solidFill>
                  <a:srgbClr val="2B2118"/>
                </a:solidFill>
                <a:latin typeface="Cambria" pitchFamily="34" charset="0"/>
                <a:ea typeface="Cambria" pitchFamily="34" charset="-122"/>
                <a:cs typeface="Cambria" pitchFamily="34" charset="-120"/>
              </a:rPr>
              <a:t>Eric Sang</a:t>
            </a:r>
            <a:endParaRPr lang="en-US" sz="2100" dirty="0"/>
          </a:p>
        </p:txBody>
      </p:sp>
      <p:sp>
        <p:nvSpPr>
          <p:cNvPr id="15" name="Text 13"/>
          <p:cNvSpPr/>
          <p:nvPr/>
        </p:nvSpPr>
        <p:spPr>
          <a:xfrm>
            <a:off x="7307105" y="4526280"/>
            <a:ext cx="3657600" cy="1188720"/>
          </a:xfrm>
          <a:prstGeom prst="rect">
            <a:avLst/>
          </a:prstGeom>
          <a:noFill/>
          <a:ln/>
        </p:spPr>
        <p:txBody>
          <a:bodyPr wrap="square" lIns="0" tIns="0" rIns="0" bIns="0" rtlCol="0" anchor="ctr"/>
          <a:lstStyle/>
          <a:p>
            <a:pPr marL="0" indent="0" algn="ctr">
              <a:buNone/>
            </a:pP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B2118"/>
                </a:solidFill>
                <a:latin typeface="Cambria" pitchFamily="34" charset="0"/>
                <a:ea typeface="Cambria" pitchFamily="34" charset="-122"/>
                <a:cs typeface="Cambria" pitchFamily="34" charset="-120"/>
              </a:rPr>
              <a:t>Le cahier des charges</a:t>
            </a:r>
            <a:endParaRPr lang="en-US" sz="30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marL="0" indent="0">
              <a:buNone/>
            </a:pPr>
            <a:endParaRPr lang="en-US" sz="1400" dirty="0"/>
          </a:p>
        </p:txBody>
      </p:sp>
      <p:sp>
        <p:nvSpPr>
          <p:cNvPr id="4" name="Shape 2"/>
          <p:cNvSpPr/>
          <p:nvPr/>
        </p:nvSpPr>
        <p:spPr>
          <a:xfrm>
            <a:off x="548640" y="1600200"/>
            <a:ext cx="5394960" cy="2148840"/>
          </a:xfrm>
          <a:prstGeom prst="roundRect">
            <a:avLst>
              <a:gd name="adj" fmla="val 3404"/>
            </a:avLst>
          </a:prstGeom>
          <a:solidFill>
            <a:srgbClr val="F2EAD9"/>
          </a:solidFill>
          <a:ln/>
        </p:spPr>
        <p:txBody>
          <a:bodyPr/>
          <a:lstStyle/>
          <a:p>
            <a:endParaRPr lang="fr-FR"/>
          </a:p>
        </p:txBody>
      </p:sp>
      <p:sp>
        <p:nvSpPr>
          <p:cNvPr id="5" name="Shape 3"/>
          <p:cNvSpPr/>
          <p:nvPr/>
        </p:nvSpPr>
        <p:spPr>
          <a:xfrm>
            <a:off x="777240" y="1828800"/>
            <a:ext cx="457200" cy="457200"/>
          </a:xfrm>
          <a:prstGeom prst="ellipse">
            <a:avLst/>
          </a:prstGeom>
          <a:solidFill>
            <a:srgbClr val="C4552D"/>
          </a:solidFill>
          <a:ln/>
        </p:spPr>
        <p:txBody>
          <a:bodyPr/>
          <a:lstStyle/>
          <a:p>
            <a:endParaRPr lang="fr-FR"/>
          </a:p>
        </p:txBody>
      </p:sp>
      <p:sp>
        <p:nvSpPr>
          <p:cNvPr id="6" name="Text 4"/>
          <p:cNvSpPr/>
          <p:nvPr/>
        </p:nvSpPr>
        <p:spPr>
          <a:xfrm>
            <a:off x="777240" y="18288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417320" y="1801368"/>
            <a:ext cx="4343400" cy="502920"/>
          </a:xfrm>
          <a:prstGeom prst="rect">
            <a:avLst/>
          </a:prstGeom>
          <a:noFill/>
          <a:ln/>
        </p:spPr>
        <p:txBody>
          <a:bodyPr wrap="square" lIns="0" tIns="0" rIns="0" bIns="0" rtlCol="0" anchor="ctr"/>
          <a:lstStyle/>
          <a:p>
            <a:pPr marL="0" indent="0">
              <a:buNone/>
            </a:pPr>
            <a:r>
              <a:rPr lang="en-US" sz="1650" b="1" dirty="0">
                <a:solidFill>
                  <a:srgbClr val="2B2118"/>
                </a:solidFill>
                <a:latin typeface="Cambria" pitchFamily="34" charset="0"/>
                <a:ea typeface="Cambria" pitchFamily="34" charset="-122"/>
                <a:cs typeface="Cambria" pitchFamily="34" charset="-120"/>
              </a:rPr>
              <a:t>4 modèles from scratch</a:t>
            </a:r>
            <a:endParaRPr lang="en-US" sz="1650" dirty="0"/>
          </a:p>
        </p:txBody>
      </p:sp>
      <p:sp>
        <p:nvSpPr>
          <p:cNvPr id="8" name="Text 6"/>
          <p:cNvSpPr/>
          <p:nvPr/>
        </p:nvSpPr>
        <p:spPr>
          <a:xfrm>
            <a:off x="822960" y="2377440"/>
            <a:ext cx="4892040" cy="1280160"/>
          </a:xfrm>
          <a:prstGeom prst="rect">
            <a:avLst/>
          </a:prstGeom>
          <a:noFill/>
          <a:ln/>
        </p:spPr>
        <p:txBody>
          <a:bodyPr wrap="square" lIns="0" tIns="0" rIns="0" bIns="0" rtlCol="0" anchor="ctr"/>
          <a:lstStyle/>
          <a:p>
            <a:pPr marL="0" indent="0">
              <a:buNone/>
            </a:pPr>
            <a:r>
              <a:rPr lang="en-US" sz="1150" dirty="0">
                <a:solidFill>
                  <a:srgbClr val="6E5E4E"/>
                </a:solidFill>
                <a:latin typeface="Calibri" pitchFamily="34" charset="0"/>
                <a:ea typeface="Calibri" pitchFamily="34" charset="-122"/>
                <a:cs typeface="Calibri" pitchFamily="34" charset="-120"/>
              </a:rPr>
              <a:t>Perceptron de Rosenblatt · MLP · RBFN · SVM — sans aucune bibliothèque de machine learning. Chaque ligne de code doit pouvoir être expliquée et défendue.</a:t>
            </a:r>
            <a:endParaRPr lang="en-US" sz="1150" dirty="0"/>
          </a:p>
        </p:txBody>
      </p:sp>
      <p:sp>
        <p:nvSpPr>
          <p:cNvPr id="9" name="Shape 7"/>
          <p:cNvSpPr/>
          <p:nvPr/>
        </p:nvSpPr>
        <p:spPr>
          <a:xfrm>
            <a:off x="6263640" y="1600200"/>
            <a:ext cx="5394960" cy="2148840"/>
          </a:xfrm>
          <a:prstGeom prst="roundRect">
            <a:avLst>
              <a:gd name="adj" fmla="val 3404"/>
            </a:avLst>
          </a:prstGeom>
          <a:solidFill>
            <a:srgbClr val="F2EAD9"/>
          </a:solidFill>
          <a:ln/>
        </p:spPr>
        <p:txBody>
          <a:bodyPr/>
          <a:lstStyle/>
          <a:p>
            <a:endParaRPr lang="fr-FR"/>
          </a:p>
        </p:txBody>
      </p:sp>
      <p:sp>
        <p:nvSpPr>
          <p:cNvPr id="10" name="Shape 8"/>
          <p:cNvSpPr/>
          <p:nvPr/>
        </p:nvSpPr>
        <p:spPr>
          <a:xfrm>
            <a:off x="6492240" y="1828800"/>
            <a:ext cx="457200" cy="457200"/>
          </a:xfrm>
          <a:prstGeom prst="ellipse">
            <a:avLst/>
          </a:prstGeom>
          <a:solidFill>
            <a:srgbClr val="C4552D"/>
          </a:solidFill>
          <a:ln/>
        </p:spPr>
        <p:txBody>
          <a:bodyPr/>
          <a:lstStyle/>
          <a:p>
            <a:endParaRPr lang="fr-FR"/>
          </a:p>
        </p:txBody>
      </p:sp>
      <p:sp>
        <p:nvSpPr>
          <p:cNvPr id="11" name="Text 9"/>
          <p:cNvSpPr/>
          <p:nvPr/>
        </p:nvSpPr>
        <p:spPr>
          <a:xfrm>
            <a:off x="6492240" y="18288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7132320" y="1801368"/>
            <a:ext cx="4343400" cy="502920"/>
          </a:xfrm>
          <a:prstGeom prst="rect">
            <a:avLst/>
          </a:prstGeom>
          <a:noFill/>
          <a:ln/>
        </p:spPr>
        <p:txBody>
          <a:bodyPr wrap="square" lIns="0" tIns="0" rIns="0" bIns="0" rtlCol="0" anchor="ctr"/>
          <a:lstStyle/>
          <a:p>
            <a:pPr marL="0" indent="0">
              <a:buNone/>
            </a:pPr>
            <a:r>
              <a:rPr lang="en-US" sz="1650" b="1" dirty="0">
                <a:solidFill>
                  <a:srgbClr val="2B2118"/>
                </a:solidFill>
                <a:latin typeface="Cambria" pitchFamily="34" charset="0"/>
                <a:ea typeface="Cambria" pitchFamily="34" charset="-122"/>
                <a:cs typeface="Cambria" pitchFamily="34" charset="-120"/>
              </a:rPr>
              <a:t>Technos &amp; librairies</a:t>
            </a:r>
            <a:endParaRPr lang="en-US" sz="1650" dirty="0"/>
          </a:p>
        </p:txBody>
      </p:sp>
      <p:sp>
        <p:nvSpPr>
          <p:cNvPr id="13" name="Text 11"/>
          <p:cNvSpPr/>
          <p:nvPr/>
        </p:nvSpPr>
        <p:spPr>
          <a:xfrm>
            <a:off x="6537960" y="2377440"/>
            <a:ext cx="4892040" cy="1280160"/>
          </a:xfrm>
          <a:prstGeom prst="rect">
            <a:avLst/>
          </a:prstGeom>
          <a:noFill/>
          <a:ln/>
        </p:spPr>
        <p:txBody>
          <a:bodyPr wrap="square" lIns="0" tIns="0" rIns="0" bIns="0" rtlCol="0" anchor="ctr"/>
          <a:lstStyle/>
          <a:p>
            <a:pPr marL="0" indent="0">
              <a:buNone/>
            </a:pPr>
            <a:r>
              <a:rPr lang="en-US" sz="1150" dirty="0">
                <a:solidFill>
                  <a:srgbClr val="6E5E4E"/>
                </a:solidFill>
                <a:latin typeface="Calibri" pitchFamily="34" charset="0"/>
                <a:ea typeface="Calibri" pitchFamily="34" charset="-122"/>
                <a:cs typeface="Calibri" pitchFamily="34" charset="-120"/>
              </a:rPr>
              <a:t>Rust (cœur des modèles, algèbre linéaire maison) · Python (</a:t>
            </a:r>
            <a:r>
              <a:rPr lang="en-US" sz="1150" dirty="0" err="1">
                <a:solidFill>
                  <a:srgbClr val="6E5E4E"/>
                </a:solidFill>
                <a:latin typeface="Calibri" pitchFamily="34" charset="0"/>
                <a:ea typeface="Calibri" pitchFamily="34" charset="-122"/>
                <a:cs typeface="Calibri" pitchFamily="34" charset="-120"/>
              </a:rPr>
              <a:t>expérimentations</a:t>
            </a:r>
            <a:r>
              <a:rPr lang="en-US" sz="1150" dirty="0">
                <a:solidFill>
                  <a:srgbClr val="6E5E4E"/>
                </a:solidFill>
                <a:latin typeface="Calibri" pitchFamily="34" charset="0"/>
                <a:ea typeface="Calibri" pitchFamily="34" charset="-122"/>
                <a:cs typeface="Calibri" pitchFamily="34" charset="-120"/>
              </a:rPr>
              <a:t>, interface CFFI) · OSQP (solveur quadratique du SVM) · Gradio, </a:t>
            </a:r>
            <a:r>
              <a:rPr lang="en-US" sz="1150" dirty="0" err="1">
                <a:solidFill>
                  <a:srgbClr val="6E5E4E"/>
                </a:solidFill>
                <a:latin typeface="Calibri" pitchFamily="34" charset="0"/>
                <a:ea typeface="Calibri" pitchFamily="34" charset="-122"/>
                <a:cs typeface="Calibri" pitchFamily="34" charset="-120"/>
              </a:rPr>
              <a:t>TensorBoard</a:t>
            </a:r>
            <a:r>
              <a:rPr lang="en-US" sz="1150" dirty="0">
                <a:solidFill>
                  <a:srgbClr val="6E5E4E"/>
                </a:solidFill>
                <a:latin typeface="Calibri" pitchFamily="34" charset="0"/>
                <a:ea typeface="Calibri" pitchFamily="34" charset="-122"/>
                <a:cs typeface="Calibri" pitchFamily="34" charset="-120"/>
              </a:rPr>
              <a:t>.</a:t>
            </a:r>
            <a:endParaRPr lang="en-US" sz="1150" dirty="0"/>
          </a:p>
        </p:txBody>
      </p:sp>
      <p:sp>
        <p:nvSpPr>
          <p:cNvPr id="14" name="Shape 12"/>
          <p:cNvSpPr/>
          <p:nvPr/>
        </p:nvSpPr>
        <p:spPr>
          <a:xfrm>
            <a:off x="548640" y="4023360"/>
            <a:ext cx="5394960" cy="2148840"/>
          </a:xfrm>
          <a:prstGeom prst="roundRect">
            <a:avLst>
              <a:gd name="adj" fmla="val 3404"/>
            </a:avLst>
          </a:prstGeom>
          <a:solidFill>
            <a:srgbClr val="F2EAD9"/>
          </a:solidFill>
          <a:ln/>
        </p:spPr>
        <p:txBody>
          <a:bodyPr/>
          <a:lstStyle/>
          <a:p>
            <a:endParaRPr lang="fr-FR"/>
          </a:p>
        </p:txBody>
      </p:sp>
      <p:sp>
        <p:nvSpPr>
          <p:cNvPr id="15" name="Shape 13"/>
          <p:cNvSpPr/>
          <p:nvPr/>
        </p:nvSpPr>
        <p:spPr>
          <a:xfrm>
            <a:off x="777240" y="4251960"/>
            <a:ext cx="457200" cy="457200"/>
          </a:xfrm>
          <a:prstGeom prst="ellipse">
            <a:avLst/>
          </a:prstGeom>
          <a:solidFill>
            <a:srgbClr val="C4552D"/>
          </a:solidFill>
          <a:ln/>
        </p:spPr>
        <p:txBody>
          <a:bodyPr/>
          <a:lstStyle/>
          <a:p>
            <a:endParaRPr lang="fr-FR"/>
          </a:p>
        </p:txBody>
      </p:sp>
      <p:sp>
        <p:nvSpPr>
          <p:cNvPr id="16" name="Text 14"/>
          <p:cNvSpPr/>
          <p:nvPr/>
        </p:nvSpPr>
        <p:spPr>
          <a:xfrm>
            <a:off x="777240" y="42519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417320" y="4224528"/>
            <a:ext cx="4343400" cy="502920"/>
          </a:xfrm>
          <a:prstGeom prst="rect">
            <a:avLst/>
          </a:prstGeom>
          <a:noFill/>
          <a:ln/>
        </p:spPr>
        <p:txBody>
          <a:bodyPr wrap="square" lIns="0" tIns="0" rIns="0" bIns="0" rtlCol="0" anchor="ctr"/>
          <a:lstStyle/>
          <a:p>
            <a:pPr marL="0" indent="0">
              <a:buNone/>
            </a:pPr>
            <a:r>
              <a:rPr lang="en-US" sz="1650" b="1" dirty="0">
                <a:solidFill>
                  <a:srgbClr val="2B2118"/>
                </a:solidFill>
                <a:latin typeface="Cambria" pitchFamily="34" charset="0"/>
                <a:ea typeface="Cambria" pitchFamily="34" charset="-122"/>
                <a:cs typeface="Cambria" pitchFamily="34" charset="-120"/>
              </a:rPr>
              <a:t>Interopérabilité</a:t>
            </a:r>
            <a:endParaRPr lang="en-US" sz="1650" dirty="0"/>
          </a:p>
        </p:txBody>
      </p:sp>
      <p:sp>
        <p:nvSpPr>
          <p:cNvPr id="18" name="Text 16"/>
          <p:cNvSpPr/>
          <p:nvPr/>
        </p:nvSpPr>
        <p:spPr>
          <a:xfrm>
            <a:off x="822960" y="4800600"/>
            <a:ext cx="4892040" cy="1280160"/>
          </a:xfrm>
          <a:prstGeom prst="rect">
            <a:avLst/>
          </a:prstGeom>
          <a:noFill/>
          <a:ln/>
        </p:spPr>
        <p:txBody>
          <a:bodyPr wrap="square" lIns="0" tIns="0" rIns="0" bIns="0" rtlCol="0" anchor="ctr"/>
          <a:lstStyle/>
          <a:p>
            <a:pPr marL="0" indent="0">
              <a:buNone/>
            </a:pPr>
            <a:r>
              <a:rPr lang="en-US" sz="1150" dirty="0">
                <a:solidFill>
                  <a:srgbClr val="6E5E4E"/>
                </a:solidFill>
                <a:latin typeface="Calibri" pitchFamily="34" charset="0"/>
                <a:ea typeface="Calibri" pitchFamily="34" charset="-122"/>
                <a:cs typeface="Calibri" pitchFamily="34" charset="-120"/>
              </a:rPr>
              <a:t>Bibliothèque dynamique Rust exposée par une interface C, consommée en Python via cffi : exécutables natifs, scripts d'expérimentation et interface graphique.</a:t>
            </a:r>
            <a:endParaRPr lang="en-US" sz="1150" dirty="0"/>
          </a:p>
        </p:txBody>
      </p:sp>
      <p:sp>
        <p:nvSpPr>
          <p:cNvPr id="19" name="Shape 17"/>
          <p:cNvSpPr/>
          <p:nvPr/>
        </p:nvSpPr>
        <p:spPr>
          <a:xfrm>
            <a:off x="6263640" y="4023360"/>
            <a:ext cx="5394960" cy="2148840"/>
          </a:xfrm>
          <a:prstGeom prst="roundRect">
            <a:avLst>
              <a:gd name="adj" fmla="val 3404"/>
            </a:avLst>
          </a:prstGeom>
          <a:solidFill>
            <a:srgbClr val="F2EAD9"/>
          </a:solidFill>
          <a:ln/>
        </p:spPr>
        <p:txBody>
          <a:bodyPr/>
          <a:lstStyle/>
          <a:p>
            <a:endParaRPr lang="fr-FR"/>
          </a:p>
        </p:txBody>
      </p:sp>
      <p:sp>
        <p:nvSpPr>
          <p:cNvPr id="20" name="Shape 18"/>
          <p:cNvSpPr/>
          <p:nvPr/>
        </p:nvSpPr>
        <p:spPr>
          <a:xfrm>
            <a:off x="6492240" y="4251960"/>
            <a:ext cx="457200" cy="457200"/>
          </a:xfrm>
          <a:prstGeom prst="ellipse">
            <a:avLst/>
          </a:prstGeom>
          <a:solidFill>
            <a:srgbClr val="C4552D"/>
          </a:solidFill>
          <a:ln/>
        </p:spPr>
        <p:txBody>
          <a:bodyPr/>
          <a:lstStyle/>
          <a:p>
            <a:endParaRPr lang="fr-FR"/>
          </a:p>
        </p:txBody>
      </p:sp>
      <p:sp>
        <p:nvSpPr>
          <p:cNvPr id="21" name="Text 19"/>
          <p:cNvSpPr/>
          <p:nvPr/>
        </p:nvSpPr>
        <p:spPr>
          <a:xfrm>
            <a:off x="6492240" y="42519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7132320" y="4224528"/>
            <a:ext cx="4343400" cy="502920"/>
          </a:xfrm>
          <a:prstGeom prst="rect">
            <a:avLst/>
          </a:prstGeom>
          <a:noFill/>
          <a:ln/>
        </p:spPr>
        <p:txBody>
          <a:bodyPr wrap="square" lIns="0" tIns="0" rIns="0" bIns="0" rtlCol="0" anchor="ctr"/>
          <a:lstStyle/>
          <a:p>
            <a:pPr marL="0" indent="0">
              <a:buNone/>
            </a:pPr>
            <a:r>
              <a:rPr lang="en-US" sz="1650" b="1" dirty="0">
                <a:solidFill>
                  <a:srgbClr val="2B2118"/>
                </a:solidFill>
                <a:latin typeface="Cambria" pitchFamily="34" charset="0"/>
                <a:ea typeface="Cambria" pitchFamily="34" charset="-122"/>
                <a:cs typeface="Cambria" pitchFamily="34" charset="-120"/>
              </a:rPr>
              <a:t>Un dataset image réel</a:t>
            </a:r>
            <a:endParaRPr lang="en-US" sz="1650" dirty="0"/>
          </a:p>
        </p:txBody>
      </p:sp>
      <p:sp>
        <p:nvSpPr>
          <p:cNvPr id="23" name="Text 21"/>
          <p:cNvSpPr/>
          <p:nvPr/>
        </p:nvSpPr>
        <p:spPr>
          <a:xfrm>
            <a:off x="6537960" y="4800600"/>
            <a:ext cx="4892040" cy="1280160"/>
          </a:xfrm>
          <a:prstGeom prst="rect">
            <a:avLst/>
          </a:prstGeom>
          <a:noFill/>
          <a:ln/>
        </p:spPr>
        <p:txBody>
          <a:bodyPr wrap="square" lIns="0" tIns="0" rIns="0" bIns="0" rtlCol="0" anchor="ctr"/>
          <a:lstStyle/>
          <a:p>
            <a:pPr marL="0" indent="0">
              <a:buNone/>
            </a:pPr>
            <a:r>
              <a:rPr lang="en-US" sz="1150" dirty="0">
                <a:solidFill>
                  <a:srgbClr val="6E5E4E"/>
                </a:solidFill>
                <a:latin typeface="Calibri" pitchFamily="34" charset="0"/>
                <a:ea typeface="Calibri" pitchFamily="34" charset="-122"/>
                <a:cs typeface="Calibri" pitchFamily="34" charset="-120"/>
              </a:rPr>
              <a:t>Trois classes visuellement proches : chat, lion, guépard. Constitution, nettoyage et étiquetage du jeu de données à notre charge.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B2118"/>
                </a:solidFill>
                <a:latin typeface="Cambria" pitchFamily="34" charset="0"/>
                <a:ea typeface="Cambria" pitchFamily="34" charset="-122"/>
                <a:cs typeface="Cambria" pitchFamily="34" charset="-120"/>
              </a:rPr>
              <a:t>Problématique applicative</a:t>
            </a:r>
            <a:endParaRPr lang="en-US" sz="30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marL="0" indent="0">
              <a:buNone/>
            </a:pPr>
            <a:r>
              <a:rPr lang="en-US" sz="1400" i="1" dirty="0">
                <a:solidFill>
                  <a:srgbClr val="6E5E4E"/>
                </a:solidFill>
                <a:latin typeface="Calibri" pitchFamily="34" charset="0"/>
                <a:ea typeface="Calibri" pitchFamily="34" charset="-122"/>
                <a:cs typeface="Calibri" pitchFamily="34" charset="-120"/>
              </a:rPr>
              <a:t>Distinguer trois félins visuellement proches — à quoi ça sert, et pourquoi c'est dur</a:t>
            </a:r>
            <a:endParaRPr lang="en-US" sz="1400" dirty="0"/>
          </a:p>
        </p:txBody>
      </p:sp>
      <p:sp>
        <p:nvSpPr>
          <p:cNvPr id="4" name="Text 2"/>
          <p:cNvSpPr/>
          <p:nvPr/>
        </p:nvSpPr>
        <p:spPr>
          <a:xfrm>
            <a:off x="548640" y="1554480"/>
            <a:ext cx="11064240" cy="777240"/>
          </a:xfrm>
          <a:prstGeom prst="rect">
            <a:avLst/>
          </a:prstGeom>
          <a:noFill/>
          <a:ln/>
        </p:spPr>
        <p:txBody>
          <a:bodyPr wrap="square" lIns="0" tIns="0" rIns="0" bIns="0" rtlCol="0" anchor="ctr"/>
          <a:lstStyle/>
          <a:p>
            <a:pPr marL="0" indent="0">
              <a:buNone/>
            </a:pPr>
            <a:r>
              <a:rPr lang="en-US" sz="1350" b="1" dirty="0">
                <a:solidFill>
                  <a:srgbClr val="2B2118"/>
                </a:solidFill>
                <a:latin typeface="Calibri" pitchFamily="34" charset="0"/>
                <a:ea typeface="Calibri" pitchFamily="34" charset="-122"/>
                <a:cs typeface="Calibri" pitchFamily="34" charset="-120"/>
              </a:rPr>
              <a:t>L'objectif applicatif. </a:t>
            </a:r>
            <a:r>
              <a:rPr lang="en-US" sz="1350" dirty="0">
                <a:solidFill>
                  <a:srgbClr val="6E5E4E"/>
                </a:solidFill>
                <a:latin typeface="Calibri" pitchFamily="34" charset="0"/>
                <a:ea typeface="Calibri" pitchFamily="34" charset="-122"/>
                <a:cs typeface="Calibri" pitchFamily="34" charset="-120"/>
              </a:rPr>
              <a:t>Identifier automatiquement l'espèce d'un félin sur une photo : tri de </a:t>
            </a:r>
            <a:r>
              <a:rPr lang="en-US" sz="1350" dirty="0" err="1">
                <a:solidFill>
                  <a:srgbClr val="6E5E4E"/>
                </a:solidFill>
                <a:latin typeface="Calibri" pitchFamily="34" charset="0"/>
                <a:ea typeface="Calibri" pitchFamily="34" charset="-122"/>
                <a:cs typeface="Calibri" pitchFamily="34" charset="-120"/>
              </a:rPr>
              <a:t>photothèques</a:t>
            </a:r>
            <a:r>
              <a:rPr lang="en-US" sz="1350" dirty="0">
                <a:solidFill>
                  <a:srgbClr val="6E5E4E"/>
                </a:solidFill>
                <a:latin typeface="Calibri" pitchFamily="34" charset="0"/>
                <a:ea typeface="Calibri" pitchFamily="34" charset="-122"/>
                <a:cs typeface="Calibri" pitchFamily="34" charset="-120"/>
              </a:rPr>
              <a:t> </a:t>
            </a:r>
            <a:r>
              <a:rPr lang="en-US" sz="1350" dirty="0" err="1">
                <a:solidFill>
                  <a:srgbClr val="6E5E4E"/>
                </a:solidFill>
                <a:latin typeface="Calibri" pitchFamily="34" charset="0"/>
                <a:ea typeface="Calibri" pitchFamily="34" charset="-122"/>
                <a:cs typeface="Calibri" pitchFamily="34" charset="-120"/>
              </a:rPr>
              <a:t>provenant</a:t>
            </a:r>
            <a:r>
              <a:rPr lang="en-US" sz="1350" dirty="0">
                <a:solidFill>
                  <a:srgbClr val="6E5E4E"/>
                </a:solidFill>
                <a:latin typeface="Calibri" pitchFamily="34" charset="0"/>
                <a:ea typeface="Calibri" pitchFamily="34" charset="-122"/>
                <a:cs typeface="Calibri" pitchFamily="34" charset="-120"/>
              </a:rPr>
              <a:t> de </a:t>
            </a:r>
            <a:r>
              <a:rPr lang="en-US" sz="1350" dirty="0" err="1">
                <a:solidFill>
                  <a:srgbClr val="6E5E4E"/>
                </a:solidFill>
                <a:latin typeface="Calibri" pitchFamily="34" charset="0"/>
                <a:ea typeface="Calibri" pitchFamily="34" charset="-122"/>
                <a:cs typeface="Calibri" pitchFamily="34" charset="-120"/>
              </a:rPr>
              <a:t>l’API</a:t>
            </a:r>
            <a:r>
              <a:rPr lang="en-US" sz="1350" dirty="0">
                <a:solidFill>
                  <a:srgbClr val="6E5E4E"/>
                </a:solidFill>
                <a:latin typeface="Calibri" pitchFamily="34" charset="0"/>
                <a:ea typeface="Calibri" pitchFamily="34" charset="-122"/>
                <a:cs typeface="Calibri" pitchFamily="34" charset="-120"/>
              </a:rPr>
              <a:t> </a:t>
            </a:r>
            <a:r>
              <a:rPr lang="en-US" sz="1350" dirty="0" err="1">
                <a:solidFill>
                  <a:srgbClr val="6E5E4E"/>
                </a:solidFill>
                <a:latin typeface="Calibri" pitchFamily="34" charset="0"/>
                <a:ea typeface="Calibri" pitchFamily="34" charset="-122"/>
                <a:cs typeface="Calibri" pitchFamily="34" charset="-120"/>
              </a:rPr>
              <a:t>Inaturalistes</a:t>
            </a:r>
            <a:r>
              <a:rPr lang="en-US" sz="1350" dirty="0">
                <a:solidFill>
                  <a:srgbClr val="6E5E4E"/>
                </a:solidFill>
                <a:latin typeface="Calibri" pitchFamily="34" charset="0"/>
                <a:ea typeface="Calibri" pitchFamily="34" charset="-122"/>
                <a:cs typeface="Calibri" pitchFamily="34" charset="-120"/>
              </a:rPr>
              <a:t>, pièges photographiques pour le suivi de la faune, applications </a:t>
            </a:r>
            <a:r>
              <a:rPr lang="en-US" sz="1350" dirty="0" err="1">
                <a:solidFill>
                  <a:srgbClr val="6E5E4E"/>
                </a:solidFill>
                <a:latin typeface="Calibri" pitchFamily="34" charset="0"/>
                <a:ea typeface="Calibri" pitchFamily="34" charset="-122"/>
                <a:cs typeface="Calibri" pitchFamily="34" charset="-120"/>
              </a:rPr>
              <a:t>pédagogiques</a:t>
            </a:r>
            <a:r>
              <a:rPr lang="en-US" sz="1350" dirty="0">
                <a:solidFill>
                  <a:srgbClr val="6E5E4E"/>
                </a:solidFill>
                <a:latin typeface="Calibri" pitchFamily="34" charset="0"/>
                <a:ea typeface="Calibri" pitchFamily="34" charset="-122"/>
                <a:cs typeface="Calibri" pitchFamily="34" charset="-120"/>
              </a:rPr>
              <a:t>.</a:t>
            </a:r>
            <a:endParaRPr lang="en-US" sz="1350" dirty="0"/>
          </a:p>
        </p:txBody>
      </p:sp>
      <p:sp>
        <p:nvSpPr>
          <p:cNvPr id="5" name="Shape 3"/>
          <p:cNvSpPr/>
          <p:nvPr/>
        </p:nvSpPr>
        <p:spPr>
          <a:xfrm>
            <a:off x="548640" y="2468880"/>
            <a:ext cx="5394960" cy="2286000"/>
          </a:xfrm>
          <a:prstGeom prst="roundRect">
            <a:avLst>
              <a:gd name="adj" fmla="val 3200"/>
            </a:avLst>
          </a:prstGeom>
          <a:solidFill>
            <a:srgbClr val="F2EAD9"/>
          </a:solidFill>
          <a:ln/>
        </p:spPr>
        <p:txBody>
          <a:bodyPr/>
          <a:lstStyle/>
          <a:p>
            <a:endParaRPr lang="fr-FR"/>
          </a:p>
        </p:txBody>
      </p:sp>
      <p:sp>
        <p:nvSpPr>
          <p:cNvPr id="6" name="Text 4"/>
          <p:cNvSpPr/>
          <p:nvPr/>
        </p:nvSpPr>
        <p:spPr>
          <a:xfrm>
            <a:off x="822960" y="2651760"/>
            <a:ext cx="4846320" cy="365760"/>
          </a:xfrm>
          <a:prstGeom prst="rect">
            <a:avLst/>
          </a:prstGeom>
          <a:noFill/>
          <a:ln/>
        </p:spPr>
        <p:txBody>
          <a:bodyPr wrap="square" lIns="0" tIns="0" rIns="0" bIns="0" rtlCol="0" anchor="ctr"/>
          <a:lstStyle/>
          <a:p>
            <a:pPr marL="0" indent="0">
              <a:buNone/>
            </a:pPr>
            <a:r>
              <a:rPr lang="en-US" sz="1600" b="1" dirty="0">
                <a:solidFill>
                  <a:srgbClr val="5C7A5A"/>
                </a:solidFill>
                <a:latin typeface="Cambria" pitchFamily="34" charset="0"/>
                <a:ea typeface="Cambria" pitchFamily="34" charset="-122"/>
                <a:cs typeface="Cambria" pitchFamily="34" charset="-120"/>
              </a:rPr>
              <a:t>Cas évident</a:t>
            </a:r>
            <a:endParaRPr lang="en-US" sz="1600" dirty="0"/>
          </a:p>
        </p:txBody>
      </p:sp>
      <p:sp>
        <p:nvSpPr>
          <p:cNvPr id="7" name="Text 5"/>
          <p:cNvSpPr/>
          <p:nvPr/>
        </p:nvSpPr>
        <p:spPr>
          <a:xfrm>
            <a:off x="822960" y="3063240"/>
            <a:ext cx="4846320" cy="1463040"/>
          </a:xfrm>
          <a:prstGeom prst="rect">
            <a:avLst/>
          </a:prstGeom>
          <a:noFill/>
          <a:ln/>
        </p:spPr>
        <p:txBody>
          <a:bodyPr wrap="square" lIns="0" tIns="0" rIns="0" bIns="0" rtlCol="0" anchor="ctr"/>
          <a:lstStyle/>
          <a:p>
            <a:pPr marL="0" indent="0">
              <a:buNone/>
            </a:pPr>
            <a:r>
              <a:rPr lang="en-US" sz="1250" dirty="0">
                <a:solidFill>
                  <a:srgbClr val="6E5E4E"/>
                </a:solidFill>
                <a:latin typeface="Calibri" pitchFamily="34" charset="0"/>
                <a:ea typeface="Calibri" pitchFamily="34" charset="-122"/>
                <a:cs typeface="Calibri" pitchFamily="34" charset="-120"/>
              </a:rPr>
              <a:t>Chat vs lion : taille, crinière, contexte d'intérieur… même des règles simples s'en sortiraient souvent.</a:t>
            </a:r>
            <a:endParaRPr lang="en-US" sz="1250" dirty="0"/>
          </a:p>
        </p:txBody>
      </p:sp>
      <p:sp>
        <p:nvSpPr>
          <p:cNvPr id="8" name="Shape 6"/>
          <p:cNvSpPr/>
          <p:nvPr/>
        </p:nvSpPr>
        <p:spPr>
          <a:xfrm>
            <a:off x="6263640" y="2468880"/>
            <a:ext cx="5394960" cy="2286000"/>
          </a:xfrm>
          <a:prstGeom prst="roundRect">
            <a:avLst>
              <a:gd name="adj" fmla="val 3200"/>
            </a:avLst>
          </a:prstGeom>
          <a:solidFill>
            <a:srgbClr val="F2EAD9"/>
          </a:solidFill>
          <a:ln/>
        </p:spPr>
        <p:txBody>
          <a:bodyPr/>
          <a:lstStyle/>
          <a:p>
            <a:endParaRPr lang="fr-FR"/>
          </a:p>
        </p:txBody>
      </p:sp>
      <p:sp>
        <p:nvSpPr>
          <p:cNvPr id="9" name="Text 7"/>
          <p:cNvSpPr/>
          <p:nvPr/>
        </p:nvSpPr>
        <p:spPr>
          <a:xfrm>
            <a:off x="6537960" y="2651760"/>
            <a:ext cx="4846320" cy="365760"/>
          </a:xfrm>
          <a:prstGeom prst="rect">
            <a:avLst/>
          </a:prstGeom>
          <a:noFill/>
          <a:ln/>
        </p:spPr>
        <p:txBody>
          <a:bodyPr wrap="square" lIns="0" tIns="0" rIns="0" bIns="0" rtlCol="0" anchor="ctr"/>
          <a:lstStyle/>
          <a:p>
            <a:pPr marL="0" indent="0">
              <a:buNone/>
            </a:pPr>
            <a:r>
              <a:rPr lang="en-US" sz="1600" b="1" dirty="0">
                <a:solidFill>
                  <a:srgbClr val="C4552D"/>
                </a:solidFill>
                <a:latin typeface="Cambria" pitchFamily="34" charset="0"/>
                <a:ea typeface="Cambria" pitchFamily="34" charset="-122"/>
                <a:cs typeface="Cambria" pitchFamily="34" charset="-120"/>
              </a:rPr>
              <a:t>Cas ambigu</a:t>
            </a:r>
            <a:endParaRPr lang="en-US" sz="1600" dirty="0"/>
          </a:p>
        </p:txBody>
      </p:sp>
      <p:sp>
        <p:nvSpPr>
          <p:cNvPr id="10" name="Text 8"/>
          <p:cNvSpPr/>
          <p:nvPr/>
        </p:nvSpPr>
        <p:spPr>
          <a:xfrm>
            <a:off x="6537960" y="3063240"/>
            <a:ext cx="4846320" cy="1463040"/>
          </a:xfrm>
          <a:prstGeom prst="rect">
            <a:avLst/>
          </a:prstGeom>
          <a:noFill/>
          <a:ln/>
        </p:spPr>
        <p:txBody>
          <a:bodyPr wrap="square" lIns="0" tIns="0" rIns="0" bIns="0" rtlCol="0" anchor="ctr"/>
          <a:lstStyle/>
          <a:p>
            <a:pPr marL="0" indent="0">
              <a:buNone/>
            </a:pPr>
            <a:r>
              <a:rPr lang="en-US" sz="1250" dirty="0">
                <a:solidFill>
                  <a:srgbClr val="6E5E4E"/>
                </a:solidFill>
                <a:latin typeface="Calibri" pitchFamily="34" charset="0"/>
                <a:ea typeface="Calibri" pitchFamily="34" charset="-122"/>
                <a:cs typeface="Calibri" pitchFamily="34" charset="-120"/>
              </a:rPr>
              <a:t>Lion vs guépard : même fourrure fauve, même morphologie, même décor de savane. C'est LA confusion qui traverse tous nos modèles.</a:t>
            </a:r>
            <a:endParaRPr lang="en-US" sz="1250" dirty="0"/>
          </a:p>
        </p:txBody>
      </p:sp>
      <p:sp>
        <p:nvSpPr>
          <p:cNvPr id="12" name="Shape 10"/>
          <p:cNvSpPr/>
          <p:nvPr/>
        </p:nvSpPr>
        <p:spPr>
          <a:xfrm>
            <a:off x="548640" y="5349240"/>
            <a:ext cx="11109960" cy="1051560"/>
          </a:xfrm>
          <a:prstGeom prst="roundRect">
            <a:avLst>
              <a:gd name="adj" fmla="val 6957"/>
            </a:avLst>
          </a:prstGeom>
          <a:solidFill>
            <a:srgbClr val="2B2118"/>
          </a:solidFill>
          <a:ln/>
        </p:spPr>
        <p:txBody>
          <a:bodyPr/>
          <a:lstStyle/>
          <a:p>
            <a:endParaRPr lang="fr-FR"/>
          </a:p>
        </p:txBody>
      </p:sp>
      <p:sp>
        <p:nvSpPr>
          <p:cNvPr id="13" name="Text 11"/>
          <p:cNvSpPr/>
          <p:nvPr/>
        </p:nvSpPr>
        <p:spPr>
          <a:xfrm>
            <a:off x="822960" y="5458968"/>
            <a:ext cx="10561320" cy="86868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Pourquoi pas des méthodes traditionnelles ?  </a:t>
            </a:r>
            <a:r>
              <a:rPr lang="en-US" sz="1250" dirty="0">
                <a:solidFill>
                  <a:srgbClr val="F2EAD9"/>
                </a:solidFill>
                <a:latin typeface="Calibri" pitchFamily="34" charset="0"/>
                <a:ea typeface="Calibri" pitchFamily="34" charset="-122"/>
                <a:cs typeface="Calibri" pitchFamily="34" charset="-120"/>
              </a:rPr>
              <a:t>Des règles manuelles (seuils de couleur, détection de contours) échouent : les trois classes partagent couleurs, textures et décors. Il faut apprendre la frontière à partir des données — d'où le machine learning.</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B2118"/>
                </a:solidFill>
                <a:latin typeface="Cambria" pitchFamily="34" charset="0"/>
                <a:ea typeface="Cambria" pitchFamily="34" charset="-122"/>
                <a:cs typeface="Cambria" pitchFamily="34" charset="-120"/>
              </a:rPr>
              <a:t>Le dataset</a:t>
            </a:r>
            <a:endParaRPr lang="en-US" sz="30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marL="0" indent="0">
              <a:buNone/>
            </a:pPr>
            <a:r>
              <a:rPr lang="en-US" sz="1400" i="1" dirty="0">
                <a:solidFill>
                  <a:srgbClr val="6E5E4E"/>
                </a:solidFill>
                <a:latin typeface="Calibri" pitchFamily="34" charset="0"/>
                <a:ea typeface="Calibri" pitchFamily="34" charset="-122"/>
                <a:cs typeface="Calibri" pitchFamily="34" charset="-120"/>
              </a:rPr>
              <a:t>Constitution, nettoyage automatisé, métriques</a:t>
            </a:r>
            <a:endParaRPr lang="en-US" sz="1400" dirty="0"/>
          </a:p>
        </p:txBody>
      </p:sp>
      <p:sp>
        <p:nvSpPr>
          <p:cNvPr id="4" name="Text 2"/>
          <p:cNvSpPr/>
          <p:nvPr/>
        </p:nvSpPr>
        <p:spPr>
          <a:xfrm>
            <a:off x="548640" y="1645920"/>
            <a:ext cx="2651760" cy="777240"/>
          </a:xfrm>
          <a:prstGeom prst="rect">
            <a:avLst/>
          </a:prstGeom>
          <a:noFill/>
          <a:ln/>
        </p:spPr>
        <p:txBody>
          <a:bodyPr wrap="square" lIns="0" tIns="0" rIns="0" bIns="0" rtlCol="0" anchor="ctr"/>
          <a:lstStyle/>
          <a:p>
            <a:pPr marL="0" indent="0" algn="ctr">
              <a:buNone/>
            </a:pPr>
            <a:r>
              <a:rPr lang="en-US" sz="4000" b="1" dirty="0">
                <a:solidFill>
                  <a:srgbClr val="C4552D"/>
                </a:solidFill>
                <a:latin typeface="Cambria" pitchFamily="34" charset="0"/>
                <a:ea typeface="Cambria" pitchFamily="34" charset="-122"/>
                <a:cs typeface="Cambria" pitchFamily="34" charset="-120"/>
              </a:rPr>
              <a:t>~30 000</a:t>
            </a:r>
            <a:endParaRPr lang="en-US" sz="4000" dirty="0"/>
          </a:p>
        </p:txBody>
      </p:sp>
      <p:sp>
        <p:nvSpPr>
          <p:cNvPr id="5" name="Text 3"/>
          <p:cNvSpPr/>
          <p:nvPr/>
        </p:nvSpPr>
        <p:spPr>
          <a:xfrm>
            <a:off x="548640" y="2395728"/>
            <a:ext cx="2651760" cy="548640"/>
          </a:xfrm>
          <a:prstGeom prst="rect">
            <a:avLst/>
          </a:prstGeom>
          <a:noFill/>
          <a:ln/>
        </p:spPr>
        <p:txBody>
          <a:bodyPr wrap="square" lIns="0" tIns="0" rIns="0" bIns="0" rtlCol="0" anchor="ctr"/>
          <a:lstStyle/>
          <a:p>
            <a:pPr marL="0" indent="0" algn="ctr">
              <a:buNone/>
            </a:pPr>
            <a:r>
              <a:rPr lang="en-US" sz="1250" dirty="0">
                <a:solidFill>
                  <a:srgbClr val="6E5E4E"/>
                </a:solidFill>
                <a:latin typeface="Calibri" pitchFamily="34" charset="0"/>
                <a:ea typeface="Calibri" pitchFamily="34" charset="-122"/>
                <a:cs typeface="Calibri" pitchFamily="34" charset="-120"/>
              </a:rPr>
              <a:t>images brutes collectées</a:t>
            </a:r>
            <a:endParaRPr lang="en-US" sz="1250" dirty="0"/>
          </a:p>
          <a:p>
            <a:pPr marL="0" indent="0" algn="ctr">
              <a:buNone/>
            </a:pPr>
            <a:r>
              <a:rPr lang="en-US" sz="1250" dirty="0">
                <a:solidFill>
                  <a:srgbClr val="6E5E4E"/>
                </a:solidFill>
                <a:latin typeface="Calibri" pitchFamily="34" charset="0"/>
                <a:ea typeface="Calibri" pitchFamily="34" charset="-122"/>
                <a:cs typeface="Calibri" pitchFamily="34" charset="-120"/>
              </a:rPr>
              <a:t>(sources publiques)</a:t>
            </a:r>
            <a:endParaRPr lang="en-US" sz="1250" dirty="0"/>
          </a:p>
        </p:txBody>
      </p:sp>
      <p:sp>
        <p:nvSpPr>
          <p:cNvPr id="6" name="Text 4"/>
          <p:cNvSpPr/>
          <p:nvPr/>
        </p:nvSpPr>
        <p:spPr>
          <a:xfrm>
            <a:off x="3383280" y="1645920"/>
            <a:ext cx="2651760" cy="777240"/>
          </a:xfrm>
          <a:prstGeom prst="rect">
            <a:avLst/>
          </a:prstGeom>
          <a:noFill/>
          <a:ln/>
        </p:spPr>
        <p:txBody>
          <a:bodyPr wrap="square" lIns="0" tIns="0" rIns="0" bIns="0" rtlCol="0" anchor="ctr"/>
          <a:lstStyle/>
          <a:p>
            <a:pPr algn="ctr"/>
            <a:r>
              <a:rPr lang="en-US" sz="4000" b="1" dirty="0">
                <a:solidFill>
                  <a:srgbClr val="5C7A5A"/>
                </a:solidFill>
                <a:latin typeface="Cambria" pitchFamily="34" charset="0"/>
                <a:ea typeface="Cambria" pitchFamily="34" charset="-122"/>
                <a:cs typeface="Cambria" pitchFamily="34" charset="-120"/>
              </a:rPr>
              <a:t>~15 746</a:t>
            </a:r>
            <a:endParaRPr lang="en-US" sz="4000" dirty="0"/>
          </a:p>
        </p:txBody>
      </p:sp>
      <p:sp>
        <p:nvSpPr>
          <p:cNvPr id="7" name="Text 5"/>
          <p:cNvSpPr/>
          <p:nvPr/>
        </p:nvSpPr>
        <p:spPr>
          <a:xfrm>
            <a:off x="3383280" y="2395728"/>
            <a:ext cx="2651760" cy="548640"/>
          </a:xfrm>
          <a:prstGeom prst="rect">
            <a:avLst/>
          </a:prstGeom>
          <a:noFill/>
          <a:ln/>
        </p:spPr>
        <p:txBody>
          <a:bodyPr wrap="square" lIns="0" tIns="0" rIns="0" bIns="0" rtlCol="0" anchor="ctr"/>
          <a:lstStyle/>
          <a:p>
            <a:pPr marL="0" indent="0" algn="ctr">
              <a:buNone/>
            </a:pPr>
            <a:r>
              <a:rPr lang="en-US" sz="1250" dirty="0">
                <a:solidFill>
                  <a:srgbClr val="6E5E4E"/>
                </a:solidFill>
                <a:latin typeface="Calibri" pitchFamily="34" charset="0"/>
                <a:ea typeface="Calibri" pitchFamily="34" charset="-122"/>
                <a:cs typeface="Calibri" pitchFamily="34" charset="-120"/>
              </a:rPr>
              <a:t>images conservées</a:t>
            </a:r>
            <a:endParaRPr lang="en-US" sz="1250" dirty="0"/>
          </a:p>
          <a:p>
            <a:pPr marL="0" indent="0" algn="ctr">
              <a:buNone/>
            </a:pPr>
            <a:r>
              <a:rPr lang="en-US" sz="1250" dirty="0">
                <a:solidFill>
                  <a:srgbClr val="6E5E4E"/>
                </a:solidFill>
                <a:latin typeface="Calibri" pitchFamily="34" charset="0"/>
                <a:ea typeface="Calibri" pitchFamily="34" charset="-122"/>
                <a:cs typeface="Calibri" pitchFamily="34" charset="-120"/>
              </a:rPr>
              <a:t>après nettoyage</a:t>
            </a:r>
            <a:endParaRPr lang="en-US" sz="1250" dirty="0"/>
          </a:p>
        </p:txBody>
      </p:sp>
      <p:sp>
        <p:nvSpPr>
          <p:cNvPr id="8" name="Text 6"/>
          <p:cNvSpPr/>
          <p:nvPr/>
        </p:nvSpPr>
        <p:spPr>
          <a:xfrm>
            <a:off x="6217920" y="1645920"/>
            <a:ext cx="2651760" cy="777240"/>
          </a:xfrm>
          <a:prstGeom prst="rect">
            <a:avLst/>
          </a:prstGeom>
          <a:noFill/>
          <a:ln/>
        </p:spPr>
        <p:txBody>
          <a:bodyPr wrap="square" lIns="0" tIns="0" rIns="0" bIns="0" rtlCol="0" anchor="ctr"/>
          <a:lstStyle/>
          <a:p>
            <a:pPr marL="0" indent="0" algn="ctr">
              <a:buNone/>
            </a:pPr>
            <a:r>
              <a:rPr lang="en-US" sz="4000" b="1" dirty="0">
                <a:solidFill>
                  <a:srgbClr val="C4552D"/>
                </a:solidFill>
                <a:latin typeface="Cambria" pitchFamily="34" charset="0"/>
                <a:ea typeface="Cambria" pitchFamily="34" charset="-122"/>
                <a:cs typeface="Cambria" pitchFamily="34" charset="-120"/>
              </a:rPr>
              <a:t>3</a:t>
            </a:r>
            <a:endParaRPr lang="en-US" sz="4000" dirty="0"/>
          </a:p>
        </p:txBody>
      </p:sp>
      <p:sp>
        <p:nvSpPr>
          <p:cNvPr id="9" name="Text 7"/>
          <p:cNvSpPr/>
          <p:nvPr/>
        </p:nvSpPr>
        <p:spPr>
          <a:xfrm>
            <a:off x="6217920" y="2395728"/>
            <a:ext cx="2651760" cy="548640"/>
          </a:xfrm>
          <a:prstGeom prst="rect">
            <a:avLst/>
          </a:prstGeom>
          <a:noFill/>
          <a:ln/>
        </p:spPr>
        <p:txBody>
          <a:bodyPr wrap="square" lIns="0" tIns="0" rIns="0" bIns="0" rtlCol="0" anchor="ctr"/>
          <a:lstStyle/>
          <a:p>
            <a:pPr marL="0" indent="0" algn="ctr">
              <a:buNone/>
            </a:pPr>
            <a:r>
              <a:rPr lang="en-US" sz="1250" dirty="0">
                <a:solidFill>
                  <a:srgbClr val="6E5E4E"/>
                </a:solidFill>
                <a:latin typeface="Calibri" pitchFamily="34" charset="0"/>
                <a:ea typeface="Calibri" pitchFamily="34" charset="-122"/>
                <a:cs typeface="Calibri" pitchFamily="34" charset="-120"/>
              </a:rPr>
              <a:t>classes équilibrées</a:t>
            </a:r>
            <a:endParaRPr lang="en-US" sz="1250" dirty="0"/>
          </a:p>
          <a:p>
            <a:pPr marL="0" indent="0" algn="ctr">
              <a:buNone/>
            </a:pPr>
            <a:r>
              <a:rPr lang="en-US" sz="1250" dirty="0">
                <a:solidFill>
                  <a:srgbClr val="6E5E4E"/>
                </a:solidFill>
                <a:latin typeface="Calibri" pitchFamily="34" charset="0"/>
                <a:ea typeface="Calibri" pitchFamily="34" charset="-122"/>
                <a:cs typeface="Calibri" pitchFamily="34" charset="-120"/>
              </a:rPr>
              <a:t>chat · lion · guépard</a:t>
            </a:r>
            <a:endParaRPr lang="en-US" sz="1250" dirty="0"/>
          </a:p>
        </p:txBody>
      </p:sp>
      <p:sp>
        <p:nvSpPr>
          <p:cNvPr id="10" name="Text 8"/>
          <p:cNvSpPr/>
          <p:nvPr/>
        </p:nvSpPr>
        <p:spPr>
          <a:xfrm>
            <a:off x="9052560" y="1645920"/>
            <a:ext cx="2651760" cy="777240"/>
          </a:xfrm>
          <a:prstGeom prst="rect">
            <a:avLst/>
          </a:prstGeom>
          <a:noFill/>
          <a:ln/>
        </p:spPr>
        <p:txBody>
          <a:bodyPr wrap="square" lIns="0" tIns="0" rIns="0" bIns="0" rtlCol="0" anchor="ctr"/>
          <a:lstStyle/>
          <a:p>
            <a:pPr marL="0" indent="0" algn="ctr">
              <a:buNone/>
            </a:pPr>
            <a:r>
              <a:rPr lang="en-US" sz="4000" b="1" dirty="0">
                <a:solidFill>
                  <a:srgbClr val="C4552D"/>
                </a:solidFill>
                <a:latin typeface="Cambria" pitchFamily="34" charset="0"/>
                <a:ea typeface="Cambria" pitchFamily="34" charset="-122"/>
                <a:cs typeface="Cambria" pitchFamily="34" charset="-120"/>
              </a:rPr>
              <a:t>80 / 20</a:t>
            </a:r>
            <a:endParaRPr lang="en-US" sz="4000" dirty="0"/>
          </a:p>
        </p:txBody>
      </p:sp>
      <p:sp>
        <p:nvSpPr>
          <p:cNvPr id="11" name="Text 9"/>
          <p:cNvSpPr/>
          <p:nvPr/>
        </p:nvSpPr>
        <p:spPr>
          <a:xfrm>
            <a:off x="9052560" y="2395728"/>
            <a:ext cx="2651760" cy="548640"/>
          </a:xfrm>
          <a:prstGeom prst="rect">
            <a:avLst/>
          </a:prstGeom>
          <a:noFill/>
          <a:ln/>
        </p:spPr>
        <p:txBody>
          <a:bodyPr wrap="square" lIns="0" tIns="0" rIns="0" bIns="0" rtlCol="0" anchor="ctr"/>
          <a:lstStyle/>
          <a:p>
            <a:pPr marL="0" indent="0" algn="ctr">
              <a:buNone/>
            </a:pPr>
            <a:r>
              <a:rPr lang="en-US" sz="1250" dirty="0">
                <a:solidFill>
                  <a:srgbClr val="6E5E4E"/>
                </a:solidFill>
                <a:latin typeface="Calibri" pitchFamily="34" charset="0"/>
                <a:ea typeface="Calibri" pitchFamily="34" charset="-122"/>
                <a:cs typeface="Calibri" pitchFamily="34" charset="-120"/>
              </a:rPr>
              <a:t>découpage stratifié</a:t>
            </a:r>
            <a:endParaRPr lang="en-US" sz="1250" dirty="0"/>
          </a:p>
          <a:p>
            <a:pPr marL="0" indent="0" algn="ctr">
              <a:buNone/>
            </a:pPr>
            <a:r>
              <a:rPr lang="en-US" sz="1250" dirty="0">
                <a:solidFill>
                  <a:srgbClr val="6E5E4E"/>
                </a:solidFill>
                <a:latin typeface="Calibri" pitchFamily="34" charset="0"/>
                <a:ea typeface="Calibri" pitchFamily="34" charset="-122"/>
                <a:cs typeface="Calibri" pitchFamily="34" charset="-120"/>
              </a:rPr>
              <a:t>apprentissage / test</a:t>
            </a:r>
            <a:endParaRPr lang="en-US" sz="1250" dirty="0"/>
          </a:p>
        </p:txBody>
      </p:sp>
      <p:sp>
        <p:nvSpPr>
          <p:cNvPr id="12" name="Shape 10"/>
          <p:cNvSpPr/>
          <p:nvPr/>
        </p:nvSpPr>
        <p:spPr>
          <a:xfrm>
            <a:off x="548640" y="3383280"/>
            <a:ext cx="3520440" cy="2286000"/>
          </a:xfrm>
          <a:prstGeom prst="roundRect">
            <a:avLst>
              <a:gd name="adj" fmla="val 3200"/>
            </a:avLst>
          </a:prstGeom>
          <a:solidFill>
            <a:srgbClr val="F2EAD9"/>
          </a:solidFill>
          <a:ln/>
        </p:spPr>
        <p:txBody>
          <a:bodyPr/>
          <a:lstStyle/>
          <a:p>
            <a:endParaRPr lang="fr-FR"/>
          </a:p>
        </p:txBody>
      </p:sp>
      <p:sp>
        <p:nvSpPr>
          <p:cNvPr id="13" name="Text 11"/>
          <p:cNvSpPr/>
          <p:nvPr/>
        </p:nvSpPr>
        <p:spPr>
          <a:xfrm>
            <a:off x="777240" y="3566160"/>
            <a:ext cx="3063240" cy="502920"/>
          </a:xfrm>
          <a:prstGeom prst="rect">
            <a:avLst/>
          </a:prstGeom>
          <a:noFill/>
          <a:ln/>
        </p:spPr>
        <p:txBody>
          <a:bodyPr wrap="square" lIns="0" tIns="0" rIns="0" bIns="0" rtlCol="0" anchor="ctr"/>
          <a:lstStyle/>
          <a:p>
            <a:pPr marL="0" indent="0">
              <a:buNone/>
            </a:pPr>
            <a:r>
              <a:rPr lang="en-US" sz="1450" b="1" dirty="0">
                <a:solidFill>
                  <a:srgbClr val="C4552D"/>
                </a:solidFill>
                <a:latin typeface="Cambria" pitchFamily="34" charset="0"/>
                <a:ea typeface="Cambria" pitchFamily="34" charset="-122"/>
                <a:cs typeface="Cambria" pitchFamily="34" charset="-120"/>
              </a:rPr>
              <a:t>Étape 1 — Collecte</a:t>
            </a:r>
            <a:endParaRPr lang="en-US" sz="1450" dirty="0"/>
          </a:p>
        </p:txBody>
      </p:sp>
      <p:sp>
        <p:nvSpPr>
          <p:cNvPr id="14" name="Text 12"/>
          <p:cNvSpPr/>
          <p:nvPr/>
        </p:nvSpPr>
        <p:spPr>
          <a:xfrm>
            <a:off x="777240" y="4114800"/>
            <a:ext cx="3063240" cy="1417320"/>
          </a:xfrm>
          <a:prstGeom prst="rect">
            <a:avLst/>
          </a:prstGeom>
          <a:noFill/>
          <a:ln/>
        </p:spPr>
        <p:txBody>
          <a:bodyPr wrap="square" lIns="0" tIns="0" rIns="0" bIns="0" rtlCol="0" anchor="ctr"/>
          <a:lstStyle/>
          <a:p>
            <a:pPr marL="0" indent="0">
              <a:buNone/>
            </a:pPr>
            <a:r>
              <a:rPr lang="en-US" sz="1150" dirty="0">
                <a:solidFill>
                  <a:srgbClr val="6E5E4E"/>
                </a:solidFill>
                <a:latin typeface="Calibri" pitchFamily="34" charset="0"/>
                <a:ea typeface="Calibri" pitchFamily="34" charset="-122"/>
                <a:cs typeface="Calibri" pitchFamily="34" charset="-120"/>
              </a:rPr>
              <a:t>Images rassemblées depuis des sources publiques — qualité très hétérogène.</a:t>
            </a:r>
            <a:endParaRPr lang="en-US" sz="1150" dirty="0"/>
          </a:p>
        </p:txBody>
      </p:sp>
      <p:sp>
        <p:nvSpPr>
          <p:cNvPr id="15" name="Text 13"/>
          <p:cNvSpPr/>
          <p:nvPr/>
        </p:nvSpPr>
        <p:spPr>
          <a:xfrm>
            <a:off x="4087368" y="4206240"/>
            <a:ext cx="365760" cy="548640"/>
          </a:xfrm>
          <a:prstGeom prst="rect">
            <a:avLst/>
          </a:prstGeom>
          <a:noFill/>
          <a:ln/>
        </p:spPr>
        <p:txBody>
          <a:bodyPr wrap="square" lIns="0" tIns="0" rIns="0" bIns="0" rtlCol="0" anchor="ctr"/>
          <a:lstStyle/>
          <a:p>
            <a:pPr marL="0" indent="0" algn="ctr">
              <a:buNone/>
            </a:pPr>
            <a:r>
              <a:rPr lang="en-US" sz="2200" b="1" dirty="0">
                <a:solidFill>
                  <a:srgbClr val="C4552D"/>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4434840" y="3383280"/>
            <a:ext cx="3520440" cy="2286000"/>
          </a:xfrm>
          <a:prstGeom prst="roundRect">
            <a:avLst>
              <a:gd name="adj" fmla="val 3200"/>
            </a:avLst>
          </a:prstGeom>
          <a:solidFill>
            <a:srgbClr val="F2EAD9"/>
          </a:solidFill>
          <a:ln/>
        </p:spPr>
        <p:txBody>
          <a:bodyPr/>
          <a:lstStyle/>
          <a:p>
            <a:endParaRPr lang="fr-FR"/>
          </a:p>
        </p:txBody>
      </p:sp>
      <p:sp>
        <p:nvSpPr>
          <p:cNvPr id="17" name="Text 15"/>
          <p:cNvSpPr/>
          <p:nvPr/>
        </p:nvSpPr>
        <p:spPr>
          <a:xfrm>
            <a:off x="4663440" y="3566160"/>
            <a:ext cx="3063240" cy="502920"/>
          </a:xfrm>
          <a:prstGeom prst="rect">
            <a:avLst/>
          </a:prstGeom>
          <a:noFill/>
          <a:ln/>
        </p:spPr>
        <p:txBody>
          <a:bodyPr wrap="square" lIns="0" tIns="0" rIns="0" bIns="0" rtlCol="0" anchor="ctr"/>
          <a:lstStyle/>
          <a:p>
            <a:pPr marL="0" indent="0">
              <a:buNone/>
            </a:pPr>
            <a:r>
              <a:rPr lang="en-US" sz="1450" b="1" dirty="0">
                <a:solidFill>
                  <a:srgbClr val="C4552D"/>
                </a:solidFill>
                <a:latin typeface="Cambria" pitchFamily="34" charset="0"/>
                <a:ea typeface="Cambria" pitchFamily="34" charset="-122"/>
                <a:cs typeface="Cambria" pitchFamily="34" charset="-120"/>
              </a:rPr>
              <a:t>Étape 2 — Nettoyage YOLOv8</a:t>
            </a:r>
            <a:endParaRPr lang="en-US" sz="1450" dirty="0"/>
          </a:p>
        </p:txBody>
      </p:sp>
      <p:sp>
        <p:nvSpPr>
          <p:cNvPr id="18" name="Text 16"/>
          <p:cNvSpPr/>
          <p:nvPr/>
        </p:nvSpPr>
        <p:spPr>
          <a:xfrm>
            <a:off x="4663440" y="4114800"/>
            <a:ext cx="3063240" cy="1417320"/>
          </a:xfrm>
          <a:prstGeom prst="rect">
            <a:avLst/>
          </a:prstGeom>
          <a:noFill/>
          <a:ln/>
        </p:spPr>
        <p:txBody>
          <a:bodyPr wrap="square" lIns="0" tIns="0" rIns="0" bIns="0" rtlCol="0" anchor="ctr"/>
          <a:lstStyle/>
          <a:p>
            <a:pPr marL="0" indent="0">
              <a:buNone/>
            </a:pPr>
            <a:r>
              <a:rPr lang="en-US" sz="1150" dirty="0">
                <a:solidFill>
                  <a:srgbClr val="6E5E4E"/>
                </a:solidFill>
                <a:latin typeface="Calibri" pitchFamily="34" charset="0"/>
                <a:ea typeface="Calibri" pitchFamily="34" charset="-122"/>
                <a:cs typeface="Calibri" pitchFamily="34" charset="-120"/>
              </a:rPr>
              <a:t>Détection de l'animal, recadrage sur la boîte englobante, rejet des images sans animal ou trop petites. Conversion RGB systématique.</a:t>
            </a:r>
            <a:endParaRPr lang="en-US" sz="1150" dirty="0"/>
          </a:p>
        </p:txBody>
      </p:sp>
      <p:sp>
        <p:nvSpPr>
          <p:cNvPr id="19" name="Text 17"/>
          <p:cNvSpPr/>
          <p:nvPr/>
        </p:nvSpPr>
        <p:spPr>
          <a:xfrm>
            <a:off x="7973568" y="4206240"/>
            <a:ext cx="365760" cy="548640"/>
          </a:xfrm>
          <a:prstGeom prst="rect">
            <a:avLst/>
          </a:prstGeom>
          <a:noFill/>
          <a:ln/>
        </p:spPr>
        <p:txBody>
          <a:bodyPr wrap="square" lIns="0" tIns="0" rIns="0" bIns="0" rtlCol="0" anchor="ctr"/>
          <a:lstStyle/>
          <a:p>
            <a:pPr marL="0" indent="0" algn="ctr">
              <a:buNone/>
            </a:pPr>
            <a:r>
              <a:rPr lang="en-US" sz="2200" b="1" dirty="0">
                <a:solidFill>
                  <a:srgbClr val="C4552D"/>
                </a:solidFill>
                <a:latin typeface="Calibri" pitchFamily="34" charset="0"/>
                <a:ea typeface="Calibri" pitchFamily="34" charset="-122"/>
                <a:cs typeface="Calibri" pitchFamily="34" charset="-120"/>
              </a:rPr>
              <a:t>→</a:t>
            </a:r>
            <a:endParaRPr lang="en-US" sz="2200" dirty="0"/>
          </a:p>
        </p:txBody>
      </p:sp>
      <p:sp>
        <p:nvSpPr>
          <p:cNvPr id="20" name="Shape 18"/>
          <p:cNvSpPr/>
          <p:nvPr/>
        </p:nvSpPr>
        <p:spPr>
          <a:xfrm>
            <a:off x="8321040" y="3383280"/>
            <a:ext cx="3520440" cy="2286000"/>
          </a:xfrm>
          <a:prstGeom prst="roundRect">
            <a:avLst>
              <a:gd name="adj" fmla="val 3200"/>
            </a:avLst>
          </a:prstGeom>
          <a:solidFill>
            <a:srgbClr val="F2EAD9"/>
          </a:solidFill>
          <a:ln/>
        </p:spPr>
        <p:txBody>
          <a:bodyPr/>
          <a:lstStyle/>
          <a:p>
            <a:endParaRPr lang="fr-FR"/>
          </a:p>
        </p:txBody>
      </p:sp>
      <p:sp>
        <p:nvSpPr>
          <p:cNvPr id="21" name="Text 19"/>
          <p:cNvSpPr/>
          <p:nvPr/>
        </p:nvSpPr>
        <p:spPr>
          <a:xfrm>
            <a:off x="8549640" y="3566160"/>
            <a:ext cx="3063240" cy="502920"/>
          </a:xfrm>
          <a:prstGeom prst="rect">
            <a:avLst/>
          </a:prstGeom>
          <a:noFill/>
          <a:ln/>
        </p:spPr>
        <p:txBody>
          <a:bodyPr wrap="square" lIns="0" tIns="0" rIns="0" bIns="0" rtlCol="0" anchor="ctr"/>
          <a:lstStyle/>
          <a:p>
            <a:pPr marL="0" indent="0">
              <a:buNone/>
            </a:pPr>
            <a:r>
              <a:rPr lang="en-US" sz="1450" b="1" dirty="0">
                <a:solidFill>
                  <a:srgbClr val="C4552D"/>
                </a:solidFill>
                <a:latin typeface="Cambria" pitchFamily="34" charset="0"/>
                <a:ea typeface="Cambria" pitchFamily="34" charset="-122"/>
                <a:cs typeface="Cambria" pitchFamily="34" charset="-120"/>
              </a:rPr>
              <a:t>Étape 3 — Étiquetage &amp; cache</a:t>
            </a:r>
            <a:endParaRPr lang="en-US" sz="1450" dirty="0"/>
          </a:p>
        </p:txBody>
      </p:sp>
      <p:sp>
        <p:nvSpPr>
          <p:cNvPr id="22" name="Text 20"/>
          <p:cNvSpPr/>
          <p:nvPr/>
        </p:nvSpPr>
        <p:spPr>
          <a:xfrm>
            <a:off x="8549640" y="4114800"/>
            <a:ext cx="3063240" cy="1417320"/>
          </a:xfrm>
          <a:prstGeom prst="rect">
            <a:avLst/>
          </a:prstGeom>
          <a:noFill/>
          <a:ln/>
        </p:spPr>
        <p:txBody>
          <a:bodyPr wrap="square" lIns="0" tIns="0" rIns="0" bIns="0" rtlCol="0" anchor="ctr"/>
          <a:lstStyle/>
          <a:p>
            <a:pPr marL="0" indent="0">
              <a:buNone/>
            </a:pPr>
            <a:r>
              <a:rPr lang="en-US" sz="1150" dirty="0">
                <a:solidFill>
                  <a:srgbClr val="6E5E4E"/>
                </a:solidFill>
                <a:latin typeface="Calibri" pitchFamily="34" charset="0"/>
                <a:ea typeface="Calibri" pitchFamily="34" charset="-122"/>
                <a:cs typeface="Calibri" pitchFamily="34" charset="-120"/>
              </a:rPr>
              <a:t>Un dossier par classe = étiquette. Caractéristiques sérialisées en cache binaire : démarrage des expériences en secondes au lieu de minutes.</a:t>
            </a:r>
            <a:endParaRPr lang="en-US" sz="1150" dirty="0"/>
          </a:p>
        </p:txBody>
      </p:sp>
      <p:sp>
        <p:nvSpPr>
          <p:cNvPr id="23" name="Text 21"/>
          <p:cNvSpPr/>
          <p:nvPr/>
        </p:nvSpPr>
        <p:spPr>
          <a:xfrm>
            <a:off x="548640" y="5943600"/>
            <a:ext cx="11064240" cy="365760"/>
          </a:xfrm>
          <a:prstGeom prst="rect">
            <a:avLst/>
          </a:prstGeom>
          <a:noFill/>
          <a:ln/>
        </p:spPr>
        <p:txBody>
          <a:bodyPr wrap="square" lIns="0" tIns="0" rIns="0" bIns="0" rtlCol="0" anchor="ctr"/>
          <a:lstStyle/>
          <a:p>
            <a:pPr marL="0" indent="0">
              <a:buNone/>
            </a:pPr>
            <a:r>
              <a:rPr lang="en-US" sz="1200" i="1" dirty="0">
                <a:solidFill>
                  <a:srgbClr val="2B2118"/>
                </a:solidFill>
                <a:latin typeface="Calibri" pitchFamily="34" charset="0"/>
                <a:ea typeface="Calibri" pitchFamily="34" charset="-122"/>
                <a:cs typeface="Calibri" pitchFamily="34" charset="-120"/>
              </a:rPr>
              <a:t>Important : YOLOv8 sert uniquement à préparer les données — il n'entre jamais dans nos classifieurs.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B2118"/>
                </a:solidFill>
                <a:latin typeface="Cambria" pitchFamily="34" charset="0"/>
                <a:ea typeface="Cambria" pitchFamily="34" charset="-122"/>
                <a:cs typeface="Cambria" pitchFamily="34" charset="-120"/>
              </a:rPr>
              <a:t>Architecture logicielle</a:t>
            </a:r>
            <a:endParaRPr lang="en-US" sz="30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marL="0" indent="0">
              <a:buNone/>
            </a:pPr>
            <a:r>
              <a:rPr lang="en-US" sz="1400" i="1" dirty="0">
                <a:solidFill>
                  <a:srgbClr val="6E5E4E"/>
                </a:solidFill>
                <a:latin typeface="Calibri" pitchFamily="34" charset="0"/>
                <a:ea typeface="Calibri" pitchFamily="34" charset="-122"/>
                <a:cs typeface="Calibri" pitchFamily="34" charset="-120"/>
              </a:rPr>
              <a:t>Une bibliothèque Rust, trois consommateurs</a:t>
            </a:r>
            <a:endParaRPr lang="en-US" sz="1400" dirty="0"/>
          </a:p>
        </p:txBody>
      </p:sp>
      <p:sp>
        <p:nvSpPr>
          <p:cNvPr id="4" name="Shape 2"/>
          <p:cNvSpPr/>
          <p:nvPr/>
        </p:nvSpPr>
        <p:spPr>
          <a:xfrm>
            <a:off x="640080" y="1828800"/>
            <a:ext cx="4023360" cy="3931920"/>
          </a:xfrm>
          <a:prstGeom prst="roundRect">
            <a:avLst>
              <a:gd name="adj" fmla="val 2326"/>
            </a:avLst>
          </a:prstGeom>
          <a:solidFill>
            <a:srgbClr val="2B2118"/>
          </a:solidFill>
          <a:ln/>
        </p:spPr>
        <p:txBody>
          <a:bodyPr/>
          <a:lstStyle/>
          <a:p>
            <a:endParaRPr lang="fr-FR"/>
          </a:p>
        </p:txBody>
      </p:sp>
      <p:sp>
        <p:nvSpPr>
          <p:cNvPr id="5" name="Text 3"/>
          <p:cNvSpPr/>
          <p:nvPr/>
        </p:nvSpPr>
        <p:spPr>
          <a:xfrm>
            <a:off x="914400" y="2011680"/>
            <a:ext cx="3474720" cy="411480"/>
          </a:xfrm>
          <a:prstGeom prst="rect">
            <a:avLst/>
          </a:prstGeom>
          <a:noFill/>
          <a:ln/>
        </p:spPr>
        <p:txBody>
          <a:bodyPr wrap="square" lIns="0" tIns="0" rIns="0" bIns="0" rtlCol="0" anchor="ctr"/>
          <a:lstStyle/>
          <a:p>
            <a:pPr marL="0" indent="0">
              <a:buNone/>
            </a:pPr>
            <a:r>
              <a:rPr lang="en-US" sz="1600" b="1" dirty="0">
                <a:solidFill>
                  <a:srgbClr val="C4552D"/>
                </a:solidFill>
                <a:latin typeface="Cambria" pitchFamily="34" charset="0"/>
                <a:ea typeface="Cambria" pitchFamily="34" charset="-122"/>
                <a:cs typeface="Cambria" pitchFamily="34" charset="-120"/>
              </a:rPr>
              <a:t>felidae_classifier (Rust)</a:t>
            </a:r>
            <a:endParaRPr lang="en-US" sz="1600" dirty="0"/>
          </a:p>
        </p:txBody>
      </p:sp>
      <p:sp>
        <p:nvSpPr>
          <p:cNvPr id="6" name="Text 4"/>
          <p:cNvSpPr/>
          <p:nvPr/>
        </p:nvSpPr>
        <p:spPr>
          <a:xfrm>
            <a:off x="914400" y="2514600"/>
            <a:ext cx="3520440" cy="2926080"/>
          </a:xfrm>
          <a:prstGeom prst="rect">
            <a:avLst/>
          </a:prstGeom>
          <a:noFill/>
          <a:ln/>
        </p:spPr>
        <p:txBody>
          <a:bodyPr wrap="square" lIns="0" tIns="0" rIns="0" bIns="0" rtlCol="0" anchor="ctr"/>
          <a:lstStyle/>
          <a:p>
            <a:pPr marL="0" indent="0">
              <a:lnSpc>
                <a:spcPct val="125000"/>
              </a:lnSpc>
              <a:buNone/>
            </a:pPr>
            <a:r>
              <a:rPr lang="en-US" sz="1150" b="1" dirty="0">
                <a:solidFill>
                  <a:srgbClr val="FFFFFF"/>
                </a:solidFill>
                <a:latin typeface="Calibri" pitchFamily="34" charset="0"/>
                <a:ea typeface="Calibri" pitchFamily="34" charset="-122"/>
                <a:cs typeface="Calibri" pitchFamily="34" charset="-120"/>
              </a:rPr>
              <a:t>tensor</a:t>
            </a:r>
            <a:r>
              <a:rPr lang="en-US" sz="1150" dirty="0">
                <a:solidFill>
                  <a:srgbClr val="F2EAD9"/>
                </a:solidFill>
                <a:latin typeface="Calibri" pitchFamily="34" charset="0"/>
                <a:ea typeface="Calibri" pitchFamily="34" charset="-122"/>
                <a:cs typeface="Calibri" pitchFamily="34" charset="-120"/>
              </a:rPr>
              <a:t> — Matrix, produit, Gauss-Jordan
</a:t>
            </a:r>
            <a:r>
              <a:rPr lang="en-US" sz="1150" b="1" dirty="0">
                <a:solidFill>
                  <a:srgbClr val="FFFFFF"/>
                </a:solidFill>
                <a:latin typeface="Calibri" pitchFamily="34" charset="0"/>
                <a:ea typeface="Calibri" pitchFamily="34" charset="-122"/>
                <a:cs typeface="Calibri" pitchFamily="34" charset="-120"/>
              </a:rPr>
              <a:t>data</a:t>
            </a:r>
            <a:r>
              <a:rPr lang="en-US" sz="1150" dirty="0">
                <a:solidFill>
                  <a:srgbClr val="F2EAD9"/>
                </a:solidFill>
                <a:latin typeface="Calibri" pitchFamily="34" charset="0"/>
                <a:ea typeface="Calibri" pitchFamily="34" charset="-122"/>
                <a:cs typeface="Calibri" pitchFamily="34" charset="-120"/>
              </a:rPr>
              <a:t> — Dataset, découpage stratifié reproductible
</a:t>
            </a:r>
            <a:r>
              <a:rPr lang="en-US" sz="1150" b="1" dirty="0">
                <a:solidFill>
                  <a:srgbClr val="FFFFFF"/>
                </a:solidFill>
                <a:latin typeface="Calibri" pitchFamily="34" charset="0"/>
                <a:ea typeface="Calibri" pitchFamily="34" charset="-122"/>
                <a:cs typeface="Calibri" pitchFamily="34" charset="-120"/>
              </a:rPr>
              <a:t>features</a:t>
            </a:r>
            <a:r>
              <a:rPr lang="en-US" sz="1150" dirty="0">
                <a:solidFill>
                  <a:srgbClr val="F2EAD9"/>
                </a:solidFill>
                <a:latin typeface="Calibri" pitchFamily="34" charset="0"/>
                <a:ea typeface="Calibri" pitchFamily="34" charset="-122"/>
                <a:cs typeface="Calibri" pitchFamily="34" charset="-120"/>
              </a:rPr>
              <a:t> — extract (20 caract.) / flatten (3072 px) + StandardScaler
</a:t>
            </a:r>
            <a:r>
              <a:rPr lang="en-US" sz="1150" b="1" dirty="0">
                <a:solidFill>
                  <a:srgbClr val="FFFFFF"/>
                </a:solidFill>
                <a:latin typeface="Calibri" pitchFamily="34" charset="0"/>
                <a:ea typeface="Calibri" pitchFamily="34" charset="-122"/>
                <a:cs typeface="Calibri" pitchFamily="34" charset="-120"/>
              </a:rPr>
              <a:t>models</a:t>
            </a:r>
            <a:r>
              <a:rPr lang="en-US" sz="1150" dirty="0">
                <a:solidFill>
                  <a:srgbClr val="F2EAD9"/>
                </a:solidFill>
                <a:latin typeface="Calibri" pitchFamily="34" charset="0"/>
                <a:ea typeface="Calibri" pitchFamily="34" charset="-122"/>
                <a:cs typeface="Calibri" pitchFamily="34" charset="-120"/>
              </a:rPr>
              <a:t> — Rosenblatt, MLP, RBFN, SVM
</a:t>
            </a:r>
            <a:r>
              <a:rPr lang="en-US" sz="1150" b="1" dirty="0">
                <a:solidFill>
                  <a:srgbClr val="FFFFFF"/>
                </a:solidFill>
                <a:latin typeface="Calibri" pitchFamily="34" charset="0"/>
                <a:ea typeface="Calibri" pitchFamily="34" charset="-122"/>
                <a:cs typeface="Calibri" pitchFamily="34" charset="-120"/>
              </a:rPr>
              <a:t>ffi</a:t>
            </a:r>
            <a:r>
              <a:rPr lang="en-US" sz="1150" dirty="0">
                <a:solidFill>
                  <a:srgbClr val="F2EAD9"/>
                </a:solidFill>
                <a:latin typeface="Calibri" pitchFamily="34" charset="0"/>
                <a:ea typeface="Calibri" pitchFamily="34" charset="-122"/>
                <a:cs typeface="Calibri" pitchFamily="34" charset="-120"/>
              </a:rPr>
              <a:t> — interface C vers le monde extérieur</a:t>
            </a:r>
            <a:endParaRPr lang="en-US" sz="1150" dirty="0"/>
          </a:p>
        </p:txBody>
      </p:sp>
      <p:sp>
        <p:nvSpPr>
          <p:cNvPr id="7" name="Shape 5"/>
          <p:cNvSpPr/>
          <p:nvPr/>
        </p:nvSpPr>
        <p:spPr>
          <a:xfrm>
            <a:off x="4754880" y="3520440"/>
            <a:ext cx="1051560" cy="548640"/>
          </a:xfrm>
          <a:prstGeom prst="rightArrow">
            <a:avLst/>
          </a:prstGeom>
          <a:solidFill>
            <a:srgbClr val="C4552D"/>
          </a:solidFill>
          <a:ln/>
        </p:spPr>
        <p:txBody>
          <a:bodyPr/>
          <a:lstStyle/>
          <a:p>
            <a:endParaRPr lang="fr-FR"/>
          </a:p>
        </p:txBody>
      </p:sp>
      <p:sp>
        <p:nvSpPr>
          <p:cNvPr id="8" name="Text 6"/>
          <p:cNvSpPr/>
          <p:nvPr/>
        </p:nvSpPr>
        <p:spPr>
          <a:xfrm>
            <a:off x="4617720" y="4114800"/>
            <a:ext cx="1325880" cy="274320"/>
          </a:xfrm>
          <a:prstGeom prst="rect">
            <a:avLst/>
          </a:prstGeom>
          <a:noFill/>
          <a:ln/>
        </p:spPr>
        <p:txBody>
          <a:bodyPr wrap="square" lIns="0" tIns="0" rIns="0" bIns="0" rtlCol="0" anchor="ctr"/>
          <a:lstStyle/>
          <a:p>
            <a:pPr marL="0" indent="0" algn="ctr">
              <a:buNone/>
            </a:pPr>
            <a:r>
              <a:rPr lang="en-US" sz="1000" dirty="0">
                <a:solidFill>
                  <a:srgbClr val="6E5E4E"/>
                </a:solidFill>
                <a:latin typeface="Calibri" pitchFamily="34" charset="0"/>
                <a:ea typeface="Calibri" pitchFamily="34" charset="-122"/>
                <a:cs typeface="Calibri" pitchFamily="34" charset="-120"/>
              </a:rPr>
              <a:t>C FFI · cffi</a:t>
            </a:r>
            <a:endParaRPr lang="en-US" sz="1000" dirty="0"/>
          </a:p>
        </p:txBody>
      </p:sp>
      <p:sp>
        <p:nvSpPr>
          <p:cNvPr id="9" name="Shape 7"/>
          <p:cNvSpPr/>
          <p:nvPr/>
        </p:nvSpPr>
        <p:spPr>
          <a:xfrm>
            <a:off x="5989320" y="1828800"/>
            <a:ext cx="5623560" cy="1188720"/>
          </a:xfrm>
          <a:prstGeom prst="roundRect">
            <a:avLst>
              <a:gd name="adj" fmla="val 6154"/>
            </a:avLst>
          </a:prstGeom>
          <a:solidFill>
            <a:srgbClr val="F2EAD9"/>
          </a:solidFill>
          <a:ln/>
        </p:spPr>
        <p:txBody>
          <a:bodyPr/>
          <a:lstStyle/>
          <a:p>
            <a:endParaRPr lang="fr-FR"/>
          </a:p>
        </p:txBody>
      </p:sp>
      <p:sp>
        <p:nvSpPr>
          <p:cNvPr id="10" name="Text 8"/>
          <p:cNvSpPr/>
          <p:nvPr/>
        </p:nvSpPr>
        <p:spPr>
          <a:xfrm>
            <a:off x="6263640" y="1938528"/>
            <a:ext cx="5120640" cy="365760"/>
          </a:xfrm>
          <a:prstGeom prst="rect">
            <a:avLst/>
          </a:prstGeom>
          <a:noFill/>
          <a:ln/>
        </p:spPr>
        <p:txBody>
          <a:bodyPr wrap="square" lIns="0" tIns="0" rIns="0" bIns="0" rtlCol="0" anchor="ctr"/>
          <a:lstStyle/>
          <a:p>
            <a:pPr marL="0" indent="0">
              <a:buNone/>
            </a:pPr>
            <a:r>
              <a:rPr lang="en-US" sz="1400" b="1" dirty="0">
                <a:solidFill>
                  <a:srgbClr val="2B2118"/>
                </a:solidFill>
                <a:latin typeface="Cambria" pitchFamily="34" charset="0"/>
                <a:ea typeface="Cambria" pitchFamily="34" charset="-122"/>
                <a:cs typeface="Cambria" pitchFamily="34" charset="-120"/>
              </a:rPr>
              <a:t>Exécutables Rust</a:t>
            </a:r>
            <a:endParaRPr lang="en-US" sz="1400" dirty="0"/>
          </a:p>
        </p:txBody>
      </p:sp>
      <p:sp>
        <p:nvSpPr>
          <p:cNvPr id="11" name="Text 9"/>
          <p:cNvSpPr/>
          <p:nvPr/>
        </p:nvSpPr>
        <p:spPr>
          <a:xfrm>
            <a:off x="6263640" y="2304288"/>
            <a:ext cx="5120640" cy="640080"/>
          </a:xfrm>
          <a:prstGeom prst="rect">
            <a:avLst/>
          </a:prstGeom>
          <a:noFill/>
          <a:ln/>
        </p:spPr>
        <p:txBody>
          <a:bodyPr wrap="square" lIns="0" tIns="0" rIns="0" bIns="0" rtlCol="0" anchor="ctr"/>
          <a:lstStyle/>
          <a:p>
            <a:pPr marL="0" indent="0">
              <a:buNone/>
            </a:pPr>
            <a:r>
              <a:rPr lang="en-US" sz="1100" dirty="0">
                <a:solidFill>
                  <a:srgbClr val="6E5E4E"/>
                </a:solidFill>
                <a:latin typeface="Calibri" pitchFamily="34" charset="0"/>
                <a:ea typeface="Calibri" pitchFamily="34" charset="-122"/>
                <a:cs typeface="Calibri" pitchFamily="34" charset="-120"/>
              </a:rPr>
              <a:t>test_synthetic &amp; test_real : validation des 4 modèles, matrices de confusion</a:t>
            </a:r>
            <a:endParaRPr lang="en-US" sz="1100" dirty="0"/>
          </a:p>
        </p:txBody>
      </p:sp>
      <p:sp>
        <p:nvSpPr>
          <p:cNvPr id="12" name="Shape 10"/>
          <p:cNvSpPr/>
          <p:nvPr/>
        </p:nvSpPr>
        <p:spPr>
          <a:xfrm>
            <a:off x="5989320" y="3200400"/>
            <a:ext cx="5623560" cy="1188720"/>
          </a:xfrm>
          <a:prstGeom prst="roundRect">
            <a:avLst>
              <a:gd name="adj" fmla="val 6154"/>
            </a:avLst>
          </a:prstGeom>
          <a:solidFill>
            <a:srgbClr val="F2EAD9"/>
          </a:solidFill>
          <a:ln/>
        </p:spPr>
        <p:txBody>
          <a:bodyPr/>
          <a:lstStyle/>
          <a:p>
            <a:endParaRPr lang="fr-FR"/>
          </a:p>
        </p:txBody>
      </p:sp>
      <p:sp>
        <p:nvSpPr>
          <p:cNvPr id="13" name="Text 11"/>
          <p:cNvSpPr/>
          <p:nvPr/>
        </p:nvSpPr>
        <p:spPr>
          <a:xfrm>
            <a:off x="6263640" y="3310128"/>
            <a:ext cx="5120640" cy="365760"/>
          </a:xfrm>
          <a:prstGeom prst="rect">
            <a:avLst/>
          </a:prstGeom>
          <a:noFill/>
          <a:ln/>
        </p:spPr>
        <p:txBody>
          <a:bodyPr wrap="square" lIns="0" tIns="0" rIns="0" bIns="0" rtlCol="0" anchor="ctr"/>
          <a:lstStyle/>
          <a:p>
            <a:pPr marL="0" indent="0">
              <a:buNone/>
            </a:pPr>
            <a:r>
              <a:rPr lang="en-US" sz="1400" b="1" dirty="0">
                <a:solidFill>
                  <a:srgbClr val="2B2118"/>
                </a:solidFill>
                <a:latin typeface="Cambria" pitchFamily="34" charset="0"/>
                <a:ea typeface="Cambria" pitchFamily="34" charset="-122"/>
                <a:cs typeface="Cambria" pitchFamily="34" charset="-120"/>
              </a:rPr>
              <a:t>Scripts Python</a:t>
            </a:r>
            <a:endParaRPr lang="en-US" sz="1400" dirty="0"/>
          </a:p>
        </p:txBody>
      </p:sp>
      <p:sp>
        <p:nvSpPr>
          <p:cNvPr id="14" name="Text 12"/>
          <p:cNvSpPr/>
          <p:nvPr/>
        </p:nvSpPr>
        <p:spPr>
          <a:xfrm>
            <a:off x="6263640" y="3675888"/>
            <a:ext cx="5120640" cy="640080"/>
          </a:xfrm>
          <a:prstGeom prst="rect">
            <a:avLst/>
          </a:prstGeom>
          <a:noFill/>
          <a:ln/>
        </p:spPr>
        <p:txBody>
          <a:bodyPr wrap="square" lIns="0" tIns="0" rIns="0" bIns="0" rtlCol="0" anchor="ctr"/>
          <a:lstStyle/>
          <a:p>
            <a:pPr marL="0" indent="0">
              <a:buNone/>
            </a:pPr>
            <a:r>
              <a:rPr lang="en-US" sz="1100" dirty="0">
                <a:solidFill>
                  <a:srgbClr val="6E5E4E"/>
                </a:solidFill>
                <a:latin typeface="Calibri" pitchFamily="34" charset="0"/>
                <a:ea typeface="Calibri" pitchFamily="34" charset="-122"/>
                <a:cs typeface="Calibri" pitchFamily="34" charset="-120"/>
              </a:rPr>
              <a:t>Toutes les figures du rapport, journalisation TensorBoard</a:t>
            </a:r>
            <a:endParaRPr lang="en-US" sz="1100" dirty="0"/>
          </a:p>
        </p:txBody>
      </p:sp>
      <p:sp>
        <p:nvSpPr>
          <p:cNvPr id="15" name="Shape 13"/>
          <p:cNvSpPr/>
          <p:nvPr/>
        </p:nvSpPr>
        <p:spPr>
          <a:xfrm>
            <a:off x="5989320" y="4572000"/>
            <a:ext cx="5623560" cy="1188720"/>
          </a:xfrm>
          <a:prstGeom prst="roundRect">
            <a:avLst>
              <a:gd name="adj" fmla="val 6154"/>
            </a:avLst>
          </a:prstGeom>
          <a:solidFill>
            <a:srgbClr val="F2EAD9"/>
          </a:solidFill>
          <a:ln/>
        </p:spPr>
        <p:txBody>
          <a:bodyPr/>
          <a:lstStyle/>
          <a:p>
            <a:endParaRPr lang="fr-FR"/>
          </a:p>
        </p:txBody>
      </p:sp>
      <p:sp>
        <p:nvSpPr>
          <p:cNvPr id="16" name="Text 14"/>
          <p:cNvSpPr/>
          <p:nvPr/>
        </p:nvSpPr>
        <p:spPr>
          <a:xfrm>
            <a:off x="6263640" y="4681728"/>
            <a:ext cx="5120640" cy="365760"/>
          </a:xfrm>
          <a:prstGeom prst="rect">
            <a:avLst/>
          </a:prstGeom>
          <a:noFill/>
          <a:ln/>
        </p:spPr>
        <p:txBody>
          <a:bodyPr wrap="square" lIns="0" tIns="0" rIns="0" bIns="0" rtlCol="0" anchor="ctr"/>
          <a:lstStyle/>
          <a:p>
            <a:pPr marL="0" indent="0">
              <a:buNone/>
            </a:pPr>
            <a:r>
              <a:rPr lang="en-US" sz="1400" b="1" dirty="0">
                <a:solidFill>
                  <a:srgbClr val="2B2118"/>
                </a:solidFill>
                <a:latin typeface="Cambria" pitchFamily="34" charset="0"/>
                <a:ea typeface="Cambria" pitchFamily="34" charset="-122"/>
                <a:cs typeface="Cambria" pitchFamily="34" charset="-120"/>
              </a:rPr>
              <a:t>Interface Gradio</a:t>
            </a:r>
            <a:endParaRPr lang="en-US" sz="1400" dirty="0"/>
          </a:p>
        </p:txBody>
      </p:sp>
      <p:sp>
        <p:nvSpPr>
          <p:cNvPr id="17" name="Text 15"/>
          <p:cNvSpPr/>
          <p:nvPr/>
        </p:nvSpPr>
        <p:spPr>
          <a:xfrm>
            <a:off x="6263640" y="5047488"/>
            <a:ext cx="5120640" cy="640080"/>
          </a:xfrm>
          <a:prstGeom prst="rect">
            <a:avLst/>
          </a:prstGeom>
          <a:noFill/>
          <a:ln/>
        </p:spPr>
        <p:txBody>
          <a:bodyPr wrap="square" lIns="0" tIns="0" rIns="0" bIns="0" rtlCol="0" anchor="ctr"/>
          <a:lstStyle/>
          <a:p>
            <a:pPr marL="0" indent="0">
              <a:buNone/>
            </a:pPr>
            <a:r>
              <a:rPr lang="en-US" sz="1100" dirty="0">
                <a:solidFill>
                  <a:srgbClr val="6E5E4E"/>
                </a:solidFill>
                <a:latin typeface="Calibri" pitchFamily="34" charset="0"/>
                <a:ea typeface="Calibri" pitchFamily="34" charset="-122"/>
                <a:cs typeface="Calibri" pitchFamily="34" charset="-120"/>
              </a:rPr>
              <a:t>Entraîner, classifier une image, consulter les modèles sauvegardés</a:t>
            </a:r>
            <a:endParaRPr lang="en-US" sz="1100" dirty="0"/>
          </a:p>
        </p:txBody>
      </p:sp>
      <p:sp>
        <p:nvSpPr>
          <p:cNvPr id="18" name="Text 16"/>
          <p:cNvSpPr/>
          <p:nvPr/>
        </p:nvSpPr>
        <p:spPr>
          <a:xfrm>
            <a:off x="640080" y="6035040"/>
            <a:ext cx="10972800" cy="365760"/>
          </a:xfrm>
          <a:prstGeom prst="rect">
            <a:avLst/>
          </a:prstGeom>
          <a:noFill/>
          <a:ln/>
        </p:spPr>
        <p:txBody>
          <a:bodyPr wrap="square" lIns="0" tIns="0" rIns="0" bIns="0" rtlCol="0" anchor="ctr"/>
          <a:lstStyle/>
          <a:p>
            <a:pPr marL="0" indent="0">
              <a:buNone/>
            </a:pPr>
            <a:r>
              <a:rPr lang="en-US" sz="1200" b="1" i="1" dirty="0">
                <a:solidFill>
                  <a:srgbClr val="5C7A5A"/>
                </a:solidFill>
                <a:latin typeface="Calibri" pitchFamily="34" charset="0"/>
                <a:ea typeface="Calibri" pitchFamily="34" charset="-122"/>
                <a:cs typeface="Calibri" pitchFamily="34" charset="-120"/>
              </a:rPr>
              <a:t>+ de 100 tests unitaires exécutés à chaque modification — ils ont réellement attrapé des bugs (cf. difficultés).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B2118"/>
                </a:solidFill>
                <a:latin typeface="Cambria" pitchFamily="34" charset="0"/>
                <a:ea typeface="Cambria" pitchFamily="34" charset="-122"/>
                <a:cs typeface="Cambria" pitchFamily="34" charset="-120"/>
              </a:rPr>
              <a:t>Démarche expérimentale</a:t>
            </a:r>
            <a:endParaRPr lang="en-US" sz="30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marL="0" indent="0">
              <a:buNone/>
            </a:pPr>
            <a:r>
              <a:rPr lang="en-US" sz="1400" i="1" dirty="0">
                <a:solidFill>
                  <a:srgbClr val="6E5E4E"/>
                </a:solidFill>
                <a:latin typeface="Calibri" pitchFamily="34" charset="0"/>
                <a:ea typeface="Calibri" pitchFamily="34" charset="-122"/>
                <a:cs typeface="Calibri" pitchFamily="34" charset="-120"/>
              </a:rPr>
              <a:t>Du pire au meilleur modèle — un paramètre à la fois</a:t>
            </a:r>
            <a:endParaRPr lang="en-US" sz="1400" dirty="0"/>
          </a:p>
        </p:txBody>
      </p:sp>
      <p:sp>
        <p:nvSpPr>
          <p:cNvPr id="4" name="Shape 2"/>
          <p:cNvSpPr/>
          <p:nvPr/>
        </p:nvSpPr>
        <p:spPr>
          <a:xfrm>
            <a:off x="640080" y="1783080"/>
            <a:ext cx="502920" cy="502920"/>
          </a:xfrm>
          <a:prstGeom prst="ellipse">
            <a:avLst/>
          </a:prstGeom>
          <a:solidFill>
            <a:srgbClr val="C4552D"/>
          </a:solidFill>
          <a:ln/>
        </p:spPr>
        <p:txBody>
          <a:bodyPr/>
          <a:lstStyle/>
          <a:p>
            <a:endParaRPr lang="fr-FR"/>
          </a:p>
        </p:txBody>
      </p:sp>
      <p:sp>
        <p:nvSpPr>
          <p:cNvPr id="5" name="Text 3"/>
          <p:cNvSpPr/>
          <p:nvPr/>
        </p:nvSpPr>
        <p:spPr>
          <a:xfrm>
            <a:off x="640080" y="17830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371600" y="1645920"/>
            <a:ext cx="10058400" cy="365760"/>
          </a:xfrm>
          <a:prstGeom prst="rect">
            <a:avLst/>
          </a:prstGeom>
          <a:noFill/>
          <a:ln/>
        </p:spPr>
        <p:txBody>
          <a:bodyPr wrap="square" lIns="0" tIns="0" rIns="0" bIns="0" rtlCol="0" anchor="ctr"/>
          <a:lstStyle/>
          <a:p>
            <a:pPr marL="0" indent="0">
              <a:buNone/>
            </a:pPr>
            <a:r>
              <a:rPr lang="en-US" sz="1550" b="1" dirty="0">
                <a:solidFill>
                  <a:srgbClr val="2B2118"/>
                </a:solidFill>
                <a:latin typeface="Cambria" pitchFamily="34" charset="0"/>
                <a:ea typeface="Cambria" pitchFamily="34" charset="-122"/>
                <a:cs typeface="Cambria" pitchFamily="34" charset="-120"/>
              </a:rPr>
              <a:t>Protocole</a:t>
            </a:r>
            <a:endParaRPr lang="en-US" sz="1550" dirty="0"/>
          </a:p>
        </p:txBody>
      </p:sp>
      <p:sp>
        <p:nvSpPr>
          <p:cNvPr id="7" name="Text 5"/>
          <p:cNvSpPr/>
          <p:nvPr/>
        </p:nvSpPr>
        <p:spPr>
          <a:xfrm>
            <a:off x="1371600" y="2011680"/>
            <a:ext cx="10241280" cy="777240"/>
          </a:xfrm>
          <a:prstGeom prst="rect">
            <a:avLst/>
          </a:prstGeom>
          <a:noFill/>
          <a:ln/>
        </p:spPr>
        <p:txBody>
          <a:bodyPr wrap="square" lIns="0" tIns="0" rIns="0" bIns="0" rtlCol="0" anchor="ctr"/>
          <a:lstStyle/>
          <a:p>
            <a:pPr marL="0" indent="0">
              <a:buNone/>
            </a:pPr>
            <a:r>
              <a:rPr lang="en-US" sz="1200" dirty="0">
                <a:solidFill>
                  <a:srgbClr val="6E5E4E"/>
                </a:solidFill>
                <a:latin typeface="Calibri" pitchFamily="34" charset="0"/>
                <a:ea typeface="Calibri" pitchFamily="34" charset="-122"/>
                <a:cs typeface="Calibri" pitchFamily="34" charset="-120"/>
              </a:rPr>
              <a:t>Un seul hyperparamètre varie par expérience, graine aléatoire fixée, découpage stratifié 80/20 identique : toutes les expériences sont reproductibles.</a:t>
            </a:r>
            <a:endParaRPr lang="en-US" sz="1200" dirty="0"/>
          </a:p>
        </p:txBody>
      </p:sp>
      <p:sp>
        <p:nvSpPr>
          <p:cNvPr id="8" name="Shape 6"/>
          <p:cNvSpPr/>
          <p:nvPr/>
        </p:nvSpPr>
        <p:spPr>
          <a:xfrm>
            <a:off x="640080" y="3017520"/>
            <a:ext cx="502920" cy="502920"/>
          </a:xfrm>
          <a:prstGeom prst="ellipse">
            <a:avLst/>
          </a:prstGeom>
          <a:solidFill>
            <a:srgbClr val="C4552D"/>
          </a:solidFill>
          <a:ln/>
        </p:spPr>
        <p:txBody>
          <a:bodyPr/>
          <a:lstStyle/>
          <a:p>
            <a:endParaRPr lang="fr-FR"/>
          </a:p>
        </p:txBody>
      </p:sp>
      <p:sp>
        <p:nvSpPr>
          <p:cNvPr id="9" name="Text 7"/>
          <p:cNvSpPr/>
          <p:nvPr/>
        </p:nvSpPr>
        <p:spPr>
          <a:xfrm>
            <a:off x="640080" y="301752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1371600" y="2880360"/>
            <a:ext cx="10058400" cy="365760"/>
          </a:xfrm>
          <a:prstGeom prst="rect">
            <a:avLst/>
          </a:prstGeom>
          <a:noFill/>
          <a:ln/>
        </p:spPr>
        <p:txBody>
          <a:bodyPr wrap="square" lIns="0" tIns="0" rIns="0" bIns="0" rtlCol="0" anchor="ctr"/>
          <a:lstStyle/>
          <a:p>
            <a:pPr marL="0" indent="0">
              <a:buNone/>
            </a:pPr>
            <a:r>
              <a:rPr lang="en-US" sz="1550" b="1" dirty="0">
                <a:solidFill>
                  <a:srgbClr val="2B2118"/>
                </a:solidFill>
                <a:latin typeface="Cambria" pitchFamily="34" charset="0"/>
                <a:ea typeface="Cambria" pitchFamily="34" charset="-122"/>
                <a:cs typeface="Cambria" pitchFamily="34" charset="-120"/>
              </a:rPr>
              <a:t>Deux représentations</a:t>
            </a:r>
            <a:endParaRPr lang="en-US" sz="1550" dirty="0"/>
          </a:p>
        </p:txBody>
      </p:sp>
      <p:sp>
        <p:nvSpPr>
          <p:cNvPr id="11" name="Text 9"/>
          <p:cNvSpPr/>
          <p:nvPr/>
        </p:nvSpPr>
        <p:spPr>
          <a:xfrm>
            <a:off x="1371600" y="3246120"/>
            <a:ext cx="10241280" cy="777240"/>
          </a:xfrm>
          <a:prstGeom prst="rect">
            <a:avLst/>
          </a:prstGeom>
          <a:noFill/>
          <a:ln/>
        </p:spPr>
        <p:txBody>
          <a:bodyPr wrap="square" lIns="0" tIns="0" rIns="0" bIns="0" rtlCol="0" anchor="ctr"/>
          <a:lstStyle/>
          <a:p>
            <a:pPr marL="0" indent="0">
              <a:buNone/>
            </a:pPr>
            <a:r>
              <a:rPr lang="en-US" sz="1200" dirty="0">
                <a:solidFill>
                  <a:srgbClr val="6E5E4E"/>
                </a:solidFill>
                <a:latin typeface="Calibri" pitchFamily="34" charset="0"/>
                <a:ea typeface="Calibri" pitchFamily="34" charset="-122"/>
                <a:cs typeface="Calibri" pitchFamily="34" charset="-120"/>
              </a:rPr>
              <a:t>extract : 20 caractéristiques (couleur, luminosité, contours) — respecte la règle des 10 %.  flatten : 3 072 pixels bruts — plus riche mais dangereuse en haute dimension.</a:t>
            </a:r>
            <a:endParaRPr lang="en-US" sz="1200" dirty="0"/>
          </a:p>
        </p:txBody>
      </p:sp>
      <p:sp>
        <p:nvSpPr>
          <p:cNvPr id="12" name="Shape 10"/>
          <p:cNvSpPr/>
          <p:nvPr/>
        </p:nvSpPr>
        <p:spPr>
          <a:xfrm>
            <a:off x="640080" y="4251960"/>
            <a:ext cx="502920" cy="502920"/>
          </a:xfrm>
          <a:prstGeom prst="ellipse">
            <a:avLst/>
          </a:prstGeom>
          <a:solidFill>
            <a:srgbClr val="C4552D"/>
          </a:solidFill>
          <a:ln/>
        </p:spPr>
        <p:txBody>
          <a:bodyPr/>
          <a:lstStyle/>
          <a:p>
            <a:endParaRPr lang="fr-FR"/>
          </a:p>
        </p:txBody>
      </p:sp>
      <p:sp>
        <p:nvSpPr>
          <p:cNvPr id="13" name="Text 11"/>
          <p:cNvSpPr/>
          <p:nvPr/>
        </p:nvSpPr>
        <p:spPr>
          <a:xfrm>
            <a:off x="640080" y="42519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4" name="Text 12"/>
          <p:cNvSpPr/>
          <p:nvPr/>
        </p:nvSpPr>
        <p:spPr>
          <a:xfrm>
            <a:off x="1371600" y="4114800"/>
            <a:ext cx="10058400" cy="365760"/>
          </a:xfrm>
          <a:prstGeom prst="rect">
            <a:avLst/>
          </a:prstGeom>
          <a:noFill/>
          <a:ln/>
        </p:spPr>
        <p:txBody>
          <a:bodyPr wrap="square" lIns="0" tIns="0" rIns="0" bIns="0" rtlCol="0" anchor="ctr"/>
          <a:lstStyle/>
          <a:p>
            <a:pPr marL="0" indent="0">
              <a:buNone/>
            </a:pPr>
            <a:r>
              <a:rPr lang="en-US" sz="1550" b="1" dirty="0">
                <a:solidFill>
                  <a:srgbClr val="2B2118"/>
                </a:solidFill>
                <a:latin typeface="Cambria" pitchFamily="34" charset="0"/>
                <a:ea typeface="Cambria" pitchFamily="34" charset="-122"/>
                <a:cs typeface="Cambria" pitchFamily="34" charset="-120"/>
              </a:rPr>
              <a:t>Fil conducteur</a:t>
            </a:r>
            <a:endParaRPr lang="en-US" sz="1550" dirty="0"/>
          </a:p>
        </p:txBody>
      </p:sp>
      <p:sp>
        <p:nvSpPr>
          <p:cNvPr id="15" name="Text 13"/>
          <p:cNvSpPr/>
          <p:nvPr/>
        </p:nvSpPr>
        <p:spPr>
          <a:xfrm>
            <a:off x="1371600" y="4480560"/>
            <a:ext cx="10241280" cy="777240"/>
          </a:xfrm>
          <a:prstGeom prst="rect">
            <a:avLst/>
          </a:prstGeom>
          <a:noFill/>
          <a:ln/>
        </p:spPr>
        <p:txBody>
          <a:bodyPr wrap="square" lIns="0" tIns="0" rIns="0" bIns="0" rtlCol="0" anchor="ctr"/>
          <a:lstStyle/>
          <a:p>
            <a:pPr marL="0" indent="0">
              <a:buNone/>
            </a:pPr>
            <a:r>
              <a:rPr lang="en-US" sz="1200" dirty="0">
                <a:solidFill>
                  <a:srgbClr val="6E5E4E"/>
                </a:solidFill>
                <a:latin typeface="Calibri" pitchFamily="34" charset="0"/>
                <a:ea typeface="Calibri" pitchFamily="34" charset="-122"/>
                <a:cs typeface="Calibri" pitchFamily="34" charset="-120"/>
              </a:rPr>
              <a:t>Chaque modèle rejoue le même arbitrage sous-apprentissage / sur-apprentissage, avec son propre vocabulaire : époques, profondeur, gamma, nombre de centres, C.</a:t>
            </a:r>
            <a:endParaRPr lang="en-US" sz="1200" dirty="0"/>
          </a:p>
        </p:txBody>
      </p:sp>
      <p:sp>
        <p:nvSpPr>
          <p:cNvPr id="16" name="Shape 14"/>
          <p:cNvSpPr/>
          <p:nvPr/>
        </p:nvSpPr>
        <p:spPr>
          <a:xfrm>
            <a:off x="548640" y="5486400"/>
            <a:ext cx="11109960" cy="914400"/>
          </a:xfrm>
          <a:prstGeom prst="roundRect">
            <a:avLst>
              <a:gd name="adj" fmla="val 8000"/>
            </a:avLst>
          </a:prstGeom>
          <a:solidFill>
            <a:srgbClr val="2B2118"/>
          </a:solidFill>
          <a:ln/>
        </p:spPr>
        <p:txBody>
          <a:bodyPr/>
          <a:lstStyle/>
          <a:p>
            <a:endParaRPr lang="fr-FR"/>
          </a:p>
        </p:txBody>
      </p:sp>
      <p:sp>
        <p:nvSpPr>
          <p:cNvPr id="17" name="Text 15"/>
          <p:cNvSpPr/>
          <p:nvPr/>
        </p:nvSpPr>
        <p:spPr>
          <a:xfrm>
            <a:off x="822960" y="5486400"/>
            <a:ext cx="10607040" cy="9144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Ordre de présentation :   </a:t>
            </a:r>
            <a:r>
              <a:rPr lang="en-US" sz="1450" b="1" dirty="0">
                <a:solidFill>
                  <a:srgbClr val="C4552D"/>
                </a:solidFill>
                <a:latin typeface="Calibri" pitchFamily="34" charset="0"/>
                <a:ea typeface="Calibri" pitchFamily="34" charset="-122"/>
                <a:cs typeface="Calibri" pitchFamily="34" charset="-120"/>
              </a:rPr>
              <a:t>Rosenblatt (42 %)   →   RBF (54 %)   →   SVM (54,3 %)   →   MLP (56 %)</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B2118"/>
                </a:solidFill>
                <a:latin typeface="Cambria" pitchFamily="34" charset="0"/>
                <a:ea typeface="Cambria" pitchFamily="34" charset="-122"/>
                <a:cs typeface="Cambria" pitchFamily="34" charset="-120"/>
              </a:rPr>
              <a:t>1. Perceptron de Rosenblatt — la référence linéaire</a:t>
            </a:r>
            <a:endParaRPr lang="en-US" sz="30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marL="0" indent="0">
              <a:buNone/>
            </a:pPr>
            <a:r>
              <a:rPr lang="en-US" sz="1400" i="1" dirty="0">
                <a:solidFill>
                  <a:srgbClr val="6E5E4E"/>
                </a:solidFill>
                <a:latin typeface="Calibri" pitchFamily="34" charset="0"/>
                <a:ea typeface="Calibri" pitchFamily="34" charset="-122"/>
                <a:cs typeface="Calibri" pitchFamily="34" charset="-120"/>
              </a:rPr>
              <a:t>extract (20 caractéristiques) · un-contre-tous · ~42 % en test</a:t>
            </a:r>
            <a:endParaRPr lang="en-US" sz="1400" dirty="0"/>
          </a:p>
        </p:txBody>
      </p:sp>
      <p:sp>
        <p:nvSpPr>
          <p:cNvPr id="4" name="Text 2"/>
          <p:cNvSpPr/>
          <p:nvPr/>
        </p:nvSpPr>
        <p:spPr>
          <a:xfrm>
            <a:off x="548640" y="1645920"/>
            <a:ext cx="5577840" cy="4480560"/>
          </a:xfrm>
          <a:prstGeom prst="rect">
            <a:avLst/>
          </a:prstGeom>
          <a:noFill/>
          <a:ln/>
        </p:spPr>
        <p:txBody>
          <a:bodyPr wrap="square" lIns="0" tIns="0" rIns="0" bIns="0" rtlCol="0" anchor="ctr"/>
          <a:lstStyle/>
          <a:p>
            <a:pPr marL="0" indent="0">
              <a:buNone/>
            </a:pPr>
            <a:r>
              <a:rPr lang="en-US" sz="1250" b="1" dirty="0">
                <a:solidFill>
                  <a:srgbClr val="2B2118"/>
                </a:solidFill>
                <a:latin typeface="Calibri" pitchFamily="34" charset="0"/>
                <a:ea typeface="Calibri" pitchFamily="34" charset="-122"/>
                <a:cs typeface="Calibri" pitchFamily="34" charset="-120"/>
              </a:rPr>
              <a:t>Frontières = hyperplans. </a:t>
            </a:r>
            <a:r>
              <a:rPr lang="en-US" sz="1250" dirty="0">
                <a:solidFill>
                  <a:srgbClr val="6E5E4E"/>
                </a:solidFill>
                <a:latin typeface="Calibri" pitchFamily="34" charset="0"/>
                <a:ea typeface="Calibri" pitchFamily="34" charset="-122"/>
                <a:cs typeface="Calibri" pitchFamily="34" charset="-120"/>
              </a:rPr>
              <a:t>Trois perceptrons un-contre-tous. Le problème n'est pas linéairement séparable → le modèle converge vers une solution dégénérée.
</a:t>
            </a:r>
            <a:r>
              <a:rPr lang="en-US" sz="1250" b="1" dirty="0">
                <a:solidFill>
                  <a:srgbClr val="C4552D"/>
                </a:solidFill>
                <a:latin typeface="Calibri" pitchFamily="34" charset="0"/>
                <a:ea typeface="Calibri" pitchFamily="34" charset="-122"/>
                <a:cs typeface="Calibri" pitchFamily="34" charset="-120"/>
              </a:rPr>
              <a:t>Résultat clé : </a:t>
            </a:r>
            <a:r>
              <a:rPr lang="en-US" sz="1250" dirty="0">
                <a:solidFill>
                  <a:srgbClr val="6E5E4E"/>
                </a:solidFill>
                <a:latin typeface="Calibri" pitchFamily="34" charset="0"/>
                <a:ea typeface="Calibri" pitchFamily="34" charset="-122"/>
                <a:cs typeface="Calibri" pitchFamily="34" charset="-120"/>
              </a:rPr>
              <a:t>la matrice de confusion montre un effondrement vers la classe lion — 96 % des lions reconnus, mais 20 % des chats et quasi 0 % des guépards (2 / 598). Prédire « toujours lion » garantit ~33 % sans rien apprendre.
</a:t>
            </a:r>
            <a:r>
              <a:rPr lang="en-US" sz="1250" b="1" dirty="0">
                <a:solidFill>
                  <a:srgbClr val="2B2118"/>
                </a:solidFill>
                <a:latin typeface="Calibri" pitchFamily="34" charset="0"/>
                <a:ea typeface="Calibri" pitchFamily="34" charset="-122"/>
                <a:cs typeface="Calibri" pitchFamily="34" charset="-120"/>
              </a:rPr>
              <a:t>Autres observations : </a:t>
            </a:r>
            <a:r>
              <a:rPr lang="en-US" sz="1250" dirty="0">
                <a:solidFill>
                  <a:srgbClr val="6E5E4E"/>
                </a:solidFill>
                <a:latin typeface="Calibri" pitchFamily="34" charset="0"/>
                <a:ea typeface="Calibri" pitchFamily="34" charset="-122"/>
                <a:cs typeface="Calibri" pitchFamily="34" charset="-120"/>
              </a:rPr>
              <a:t>courbe en W selon le taux d'apprentissage (mises à jour discrètes, pas de gradient lisse) · sensibilité à la graine : 7,5 points d'écart entre la meilleure et la pire initialisation.</a:t>
            </a:r>
            <a:endParaRPr lang="en-US" sz="1250" dirty="0"/>
          </a:p>
        </p:txBody>
      </p:sp>
      <p:sp>
        <p:nvSpPr>
          <p:cNvPr id="5" name="Shape 3"/>
          <p:cNvSpPr/>
          <p:nvPr/>
        </p:nvSpPr>
        <p:spPr>
          <a:xfrm>
            <a:off x="6400800" y="1645920"/>
            <a:ext cx="5212080" cy="2194560"/>
          </a:xfrm>
          <a:prstGeom prst="roundRect">
            <a:avLst>
              <a:gd name="adj" fmla="val 3333"/>
            </a:avLst>
          </a:prstGeom>
          <a:solidFill>
            <a:srgbClr val="F2EAD9"/>
          </a:solidFill>
          <a:ln w="19050">
            <a:solidFill>
              <a:srgbClr val="C4552D"/>
            </a:solidFill>
            <a:prstDash val="dash"/>
          </a:ln>
        </p:spPr>
        <p:txBody>
          <a:bodyPr/>
          <a:lstStyle/>
          <a:p>
            <a:endParaRPr lang="fr-FR"/>
          </a:p>
        </p:txBody>
      </p:sp>
      <p:sp>
        <p:nvSpPr>
          <p:cNvPr id="6" name="Text 4"/>
          <p:cNvSpPr/>
          <p:nvPr/>
        </p:nvSpPr>
        <p:spPr>
          <a:xfrm>
            <a:off x="6583680" y="2103120"/>
            <a:ext cx="4846320" cy="1280160"/>
          </a:xfrm>
          <a:prstGeom prst="rect">
            <a:avLst/>
          </a:prstGeom>
          <a:noFill/>
          <a:ln/>
        </p:spPr>
        <p:txBody>
          <a:bodyPr wrap="square" lIns="0" tIns="0" rIns="0" bIns="0" rtlCol="0" anchor="ctr"/>
          <a:lstStyle/>
          <a:p>
            <a:pPr marL="0" indent="0" algn="ctr">
              <a:buNone/>
            </a:pPr>
            <a:r>
              <a:rPr lang="en-US" sz="1300" b="1" dirty="0">
                <a:solidFill>
                  <a:srgbClr val="C4552D"/>
                </a:solidFill>
                <a:latin typeface="Calibri" pitchFamily="34" charset="0"/>
                <a:ea typeface="Calibri" pitchFamily="34" charset="-122"/>
                <a:cs typeface="Calibri" pitchFamily="34" charset="-120"/>
              </a:rPr>
              <a:t>COURBE À INSÉRER
</a:t>
            </a:r>
            <a:r>
              <a:rPr lang="en-US" sz="1100" dirty="0">
                <a:solidFill>
                  <a:srgbClr val="2B2118"/>
                </a:solidFill>
                <a:latin typeface="Courier New" pitchFamily="34" charset="0"/>
                <a:ea typeface="Courier New" pitchFamily="34" charset="-122"/>
                <a:cs typeface="Courier New" pitchFamily="34" charset="-120"/>
              </a:rPr>
              <a:t>rosenblatt_confusion.png
</a:t>
            </a:r>
            <a:r>
              <a:rPr lang="en-US" sz="1050" i="1" dirty="0">
                <a:solidFill>
                  <a:srgbClr val="6E5E4E"/>
                </a:solidFill>
                <a:latin typeface="Calibri" pitchFamily="34" charset="0"/>
                <a:ea typeface="Calibri" pitchFamily="34" charset="-122"/>
                <a:cs typeface="Calibri" pitchFamily="34" charset="-120"/>
              </a:rPr>
              <a:t>Matrice de confusion — effondrement vers « lion »</a:t>
            </a:r>
            <a:endParaRPr lang="en-US" sz="1300" dirty="0"/>
          </a:p>
        </p:txBody>
      </p:sp>
      <p:sp>
        <p:nvSpPr>
          <p:cNvPr id="7" name="Shape 5"/>
          <p:cNvSpPr/>
          <p:nvPr/>
        </p:nvSpPr>
        <p:spPr>
          <a:xfrm>
            <a:off x="6400800" y="4023360"/>
            <a:ext cx="5212080" cy="2194560"/>
          </a:xfrm>
          <a:prstGeom prst="roundRect">
            <a:avLst>
              <a:gd name="adj" fmla="val 3333"/>
            </a:avLst>
          </a:prstGeom>
          <a:solidFill>
            <a:srgbClr val="F2EAD9"/>
          </a:solidFill>
          <a:ln w="19050">
            <a:solidFill>
              <a:srgbClr val="C4552D"/>
            </a:solidFill>
            <a:prstDash val="dash"/>
          </a:ln>
        </p:spPr>
        <p:txBody>
          <a:bodyPr/>
          <a:lstStyle/>
          <a:p>
            <a:endParaRPr lang="fr-FR"/>
          </a:p>
        </p:txBody>
      </p:sp>
      <p:sp>
        <p:nvSpPr>
          <p:cNvPr id="8" name="Text 6"/>
          <p:cNvSpPr/>
          <p:nvPr/>
        </p:nvSpPr>
        <p:spPr>
          <a:xfrm>
            <a:off x="6583680" y="4480560"/>
            <a:ext cx="4846320" cy="1280160"/>
          </a:xfrm>
          <a:prstGeom prst="rect">
            <a:avLst/>
          </a:prstGeom>
          <a:noFill/>
          <a:ln/>
        </p:spPr>
        <p:txBody>
          <a:bodyPr wrap="square" lIns="0" tIns="0" rIns="0" bIns="0" rtlCol="0" anchor="ctr"/>
          <a:lstStyle/>
          <a:p>
            <a:pPr marL="0" indent="0" algn="ctr">
              <a:buNone/>
            </a:pPr>
            <a:r>
              <a:rPr lang="en-US" sz="1300" b="1" dirty="0">
                <a:solidFill>
                  <a:srgbClr val="C4552D"/>
                </a:solidFill>
                <a:latin typeface="Calibri" pitchFamily="34" charset="0"/>
                <a:ea typeface="Calibri" pitchFamily="34" charset="-122"/>
                <a:cs typeface="Calibri" pitchFamily="34" charset="-120"/>
              </a:rPr>
              <a:t>COURBE À INSÉRER
</a:t>
            </a:r>
            <a:r>
              <a:rPr lang="en-US" sz="1100" dirty="0">
                <a:solidFill>
                  <a:srgbClr val="2B2118"/>
                </a:solidFill>
                <a:latin typeface="Courier New" pitchFamily="34" charset="0"/>
                <a:ea typeface="Courier New" pitchFamily="34" charset="-122"/>
                <a:cs typeface="Courier New" pitchFamily="34" charset="-120"/>
              </a:rPr>
              <a:t>rosenblatt_lr_sweep.png
</a:t>
            </a:r>
            <a:r>
              <a:rPr lang="en-US" sz="1050" i="1" dirty="0">
                <a:solidFill>
                  <a:srgbClr val="6E5E4E"/>
                </a:solidFill>
                <a:latin typeface="Calibri" pitchFamily="34" charset="0"/>
                <a:ea typeface="Calibri" pitchFamily="34" charset="-122"/>
                <a:cs typeface="Calibri" pitchFamily="34" charset="-120"/>
              </a:rPr>
              <a:t>Précision vs taux d'apprentissage — profil en W</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B2118"/>
                </a:solidFill>
                <a:latin typeface="Cambria" pitchFamily="34" charset="0"/>
                <a:ea typeface="Cambria" pitchFamily="34" charset="-122"/>
                <a:cs typeface="Cambria" pitchFamily="34" charset="-120"/>
              </a:rPr>
              <a:t>2. RBF — des cloches gaussiennes dans l'espace</a:t>
            </a:r>
            <a:endParaRPr lang="en-US" sz="30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marL="0" indent="0">
              <a:buNone/>
            </a:pPr>
            <a:r>
              <a:rPr lang="en-US" sz="1400" i="1" dirty="0">
                <a:solidFill>
                  <a:srgbClr val="6E5E4E"/>
                </a:solidFill>
                <a:latin typeface="Calibri" pitchFamily="34" charset="0"/>
                <a:ea typeface="Calibri" pitchFamily="34" charset="-122"/>
                <a:cs typeface="Calibri" pitchFamily="34" charset="-120"/>
              </a:rPr>
              <a:t>flatten (3 072 pixels) · K centres par k-means + pseudo-inverse · ~54 % en test</a:t>
            </a:r>
            <a:endParaRPr lang="en-US" sz="1400" dirty="0"/>
          </a:p>
        </p:txBody>
      </p:sp>
      <p:sp>
        <p:nvSpPr>
          <p:cNvPr id="4" name="Text 2"/>
          <p:cNvSpPr/>
          <p:nvPr/>
        </p:nvSpPr>
        <p:spPr>
          <a:xfrm>
            <a:off x="548640" y="1645920"/>
            <a:ext cx="5577840" cy="4480560"/>
          </a:xfrm>
          <a:prstGeom prst="rect">
            <a:avLst/>
          </a:prstGeom>
          <a:noFill/>
          <a:ln/>
        </p:spPr>
        <p:txBody>
          <a:bodyPr wrap="square" lIns="0" tIns="0" rIns="0" bIns="0" rtlCol="0" anchor="ctr"/>
          <a:lstStyle/>
          <a:p>
            <a:pPr marL="0" indent="0">
              <a:buNone/>
            </a:pPr>
            <a:r>
              <a:rPr lang="en-US" sz="1250" b="1" dirty="0">
                <a:solidFill>
                  <a:srgbClr val="2B2118"/>
                </a:solidFill>
                <a:latin typeface="Calibri" pitchFamily="34" charset="0"/>
                <a:ea typeface="Calibri" pitchFamily="34" charset="-122"/>
                <a:cs typeface="Calibri" pitchFamily="34" charset="-120"/>
              </a:rPr>
              <a:t>Principe. </a:t>
            </a:r>
            <a:r>
              <a:rPr lang="en-US" sz="1250" dirty="0">
                <a:solidFill>
                  <a:srgbClr val="6E5E4E"/>
                </a:solidFill>
                <a:latin typeface="Calibri" pitchFamily="34" charset="0"/>
                <a:ea typeface="Calibri" pitchFamily="34" charset="-122"/>
                <a:cs typeface="Calibri" pitchFamily="34" charset="-120"/>
              </a:rPr>
              <a:t>K centres élus par k-means (Lloyd), chacun rayonne en cloche gaussienne e^(−γ‖X−μ‖²) ; poids en une seule résolution linéaire régularisée (ridge).
</a:t>
            </a:r>
            <a:r>
              <a:rPr lang="en-US" sz="1250" b="1" dirty="0">
                <a:solidFill>
                  <a:srgbClr val="C4552D"/>
                </a:solidFill>
                <a:latin typeface="Calibri" pitchFamily="34" charset="0"/>
                <a:ea typeface="Calibri" pitchFamily="34" charset="-122"/>
                <a:cs typeface="Calibri" pitchFamily="34" charset="-120"/>
              </a:rPr>
              <a:t>Résultat clé — naïf vs K centres : </a:t>
            </a:r>
            <a:r>
              <a:rPr lang="en-US" sz="1250" dirty="0">
                <a:solidFill>
                  <a:srgbClr val="6E5E4E"/>
                </a:solidFill>
                <a:latin typeface="Calibri" pitchFamily="34" charset="0"/>
                <a:ea typeface="Calibri" pitchFamily="34" charset="-122"/>
                <a:cs typeface="Calibri" pitchFamily="34" charset="-120"/>
              </a:rPr>
              <a:t>la version naïve (1 centre par exemple) atteint 100 % en apprentissage… et 40 % en test. La version à 30 centres apprend moins bien (53 %) mais ne mémorise pas. Généraliser ≠ minimiser l'erreur sur les exemples.
</a:t>
            </a:r>
            <a:r>
              <a:rPr lang="en-US" sz="1250" b="1" dirty="0">
                <a:solidFill>
                  <a:srgbClr val="2B2118"/>
                </a:solidFill>
                <a:latin typeface="Calibri" pitchFamily="34" charset="0"/>
                <a:ea typeface="Calibri" pitchFamily="34" charset="-122"/>
                <a:cs typeface="Calibri" pitchFamily="34" charset="-120"/>
              </a:rPr>
              <a:t>Gamma arbitre tout : </a:t>
            </a:r>
            <a:r>
              <a:rPr lang="en-US" sz="1250" dirty="0">
                <a:solidFill>
                  <a:srgbClr val="6E5E4E"/>
                </a:solidFill>
                <a:latin typeface="Calibri" pitchFamily="34" charset="0"/>
                <a:ea typeface="Calibri" pitchFamily="34" charset="-122"/>
                <a:cs typeface="Calibri" pitchFamily="34" charset="-120"/>
              </a:rPr>
              <a:t>cloches trop larges = sous-apprentissage ; trop étroites = mémorisation et effondrement à 33 % (γ ≥ 5). Cet effondrement n'existe qu'en haute dimension.</a:t>
            </a:r>
            <a:endParaRPr lang="en-US" sz="1250" dirty="0"/>
          </a:p>
        </p:txBody>
      </p:sp>
      <p:pic>
        <p:nvPicPr>
          <p:cNvPr id="10" name="Image 9">
            <a:extLst>
              <a:ext uri="{FF2B5EF4-FFF2-40B4-BE49-F238E27FC236}">
                <a16:creationId xmlns:a16="http://schemas.microsoft.com/office/drawing/2014/main" id="{CA74BCD6-3FDD-A297-92C6-7D5DA3AAB94C}"/>
              </a:ext>
            </a:extLst>
          </p:cNvPr>
          <p:cNvPicPr>
            <a:picLocks noChangeAspect="1"/>
          </p:cNvPicPr>
          <p:nvPr/>
        </p:nvPicPr>
        <p:blipFill>
          <a:blip r:embed="rId3"/>
          <a:stretch>
            <a:fillRect/>
          </a:stretch>
        </p:blipFill>
        <p:spPr>
          <a:xfrm>
            <a:off x="7116779" y="1115568"/>
            <a:ext cx="4221781" cy="2848284"/>
          </a:xfrm>
          <a:prstGeom prst="rect">
            <a:avLst/>
          </a:prstGeom>
        </p:spPr>
      </p:pic>
      <p:pic>
        <p:nvPicPr>
          <p:cNvPr id="14" name="Image 13">
            <a:extLst>
              <a:ext uri="{FF2B5EF4-FFF2-40B4-BE49-F238E27FC236}">
                <a16:creationId xmlns:a16="http://schemas.microsoft.com/office/drawing/2014/main" id="{4E248F65-2C48-520C-F56B-CDF492C73718}"/>
              </a:ext>
            </a:extLst>
          </p:cNvPr>
          <p:cNvPicPr>
            <a:picLocks noChangeAspect="1"/>
          </p:cNvPicPr>
          <p:nvPr/>
        </p:nvPicPr>
        <p:blipFill>
          <a:blip r:embed="rId4"/>
          <a:stretch>
            <a:fillRect/>
          </a:stretch>
        </p:blipFill>
        <p:spPr>
          <a:xfrm>
            <a:off x="6849484" y="3963852"/>
            <a:ext cx="4489076" cy="251487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B2118"/>
                </a:solidFill>
                <a:latin typeface="Cambria" pitchFamily="34" charset="0"/>
                <a:ea typeface="Cambria" pitchFamily="34" charset="-122"/>
                <a:cs typeface="Cambria" pitchFamily="34" charset="-120"/>
              </a:rPr>
              <a:t>3. SVM — la marge maximale</a:t>
            </a:r>
            <a:endParaRPr lang="en-US" sz="30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marL="0" indent="0">
              <a:buNone/>
            </a:pPr>
            <a:r>
              <a:rPr lang="en-US" sz="1400" i="1" dirty="0">
                <a:solidFill>
                  <a:srgbClr val="6E5E4E"/>
                </a:solidFill>
                <a:latin typeface="Calibri" pitchFamily="34" charset="0"/>
                <a:ea typeface="Calibri" pitchFamily="34" charset="-122"/>
                <a:cs typeface="Calibri" pitchFamily="34" charset="-120"/>
              </a:rPr>
              <a:t>flatten · noyau RBF · marge souple (OSQP) · 54,3 % en test à γ=0,01, C=10</a:t>
            </a:r>
            <a:endParaRPr lang="en-US" sz="1400" dirty="0"/>
          </a:p>
        </p:txBody>
      </p:sp>
      <p:sp>
        <p:nvSpPr>
          <p:cNvPr id="4" name="Text 2"/>
          <p:cNvSpPr/>
          <p:nvPr/>
        </p:nvSpPr>
        <p:spPr>
          <a:xfrm>
            <a:off x="548640" y="1645920"/>
            <a:ext cx="5577840" cy="4480560"/>
          </a:xfrm>
          <a:prstGeom prst="rect">
            <a:avLst/>
          </a:prstGeom>
          <a:noFill/>
          <a:ln/>
        </p:spPr>
        <p:txBody>
          <a:bodyPr wrap="square" lIns="0" tIns="0" rIns="0" bIns="0" rtlCol="0" anchor="ctr"/>
          <a:lstStyle/>
          <a:p>
            <a:pPr marL="0" indent="0">
              <a:buNone/>
            </a:pPr>
            <a:r>
              <a:rPr lang="en-US" sz="1250" b="1" dirty="0">
                <a:solidFill>
                  <a:srgbClr val="2B2118"/>
                </a:solidFill>
                <a:latin typeface="Calibri" pitchFamily="34" charset="0"/>
                <a:ea typeface="Calibri" pitchFamily="34" charset="-122"/>
                <a:cs typeface="Calibri" pitchFamily="34" charset="-120"/>
              </a:rPr>
              <a:t>Principe. </a:t>
            </a:r>
            <a:r>
              <a:rPr lang="en-US" sz="1250" dirty="0">
                <a:solidFill>
                  <a:srgbClr val="6E5E4E"/>
                </a:solidFill>
                <a:latin typeface="Calibri" pitchFamily="34" charset="0"/>
                <a:ea typeface="Calibri" pitchFamily="34" charset="-122"/>
                <a:cs typeface="Calibri" pitchFamily="34" charset="-120"/>
              </a:rPr>
              <a:t>Chercher la frontière à marge maximale, portée par les seuls vecteurs supports. Un-contre-tous, noyau linéaire ou RBF, programme quadratique résolu par OSQP.
</a:t>
            </a:r>
            <a:r>
              <a:rPr lang="en-US" sz="1250" b="1" dirty="0">
                <a:solidFill>
                  <a:srgbClr val="C4552D"/>
                </a:solidFill>
                <a:latin typeface="Calibri" pitchFamily="34" charset="0"/>
                <a:ea typeface="Calibri" pitchFamily="34" charset="-122"/>
                <a:cs typeface="Calibri" pitchFamily="34" charset="-120"/>
              </a:rPr>
              <a:t>Résultat clé : </a:t>
            </a:r>
            <a:r>
              <a:rPr lang="en-US" sz="1250" dirty="0">
                <a:solidFill>
                  <a:srgbClr val="6E5E4E"/>
                </a:solidFill>
                <a:latin typeface="Calibri" pitchFamily="34" charset="0"/>
                <a:ea typeface="Calibri" pitchFamily="34" charset="-122"/>
                <a:cs typeface="Calibri" pitchFamily="34" charset="-120"/>
              </a:rPr>
              <a:t>gamma est un paramètre dangereux. La carte de chaleur γ×C montre une bande entièrement effondrée dès γ ≥ 0,1 — aucun C ne peut rattraper un mauvais gamma.
</a:t>
            </a:r>
            <a:r>
              <a:rPr lang="en-US" sz="1250" b="1" dirty="0">
                <a:solidFill>
                  <a:srgbClr val="2B2118"/>
                </a:solidFill>
                <a:latin typeface="Calibri" pitchFamily="34" charset="0"/>
                <a:ea typeface="Calibri" pitchFamily="34" charset="-122"/>
                <a:cs typeface="Calibri" pitchFamily="34" charset="-120"/>
              </a:rPr>
              <a:t>Deux leçons : </a:t>
            </a:r>
            <a:r>
              <a:rPr lang="en-US" sz="1250" dirty="0">
                <a:solidFill>
                  <a:srgbClr val="6E5E4E"/>
                </a:solidFill>
                <a:latin typeface="Calibri" pitchFamily="34" charset="0"/>
                <a:ea typeface="Calibri" pitchFamily="34" charset="-122"/>
                <a:cs typeface="Calibri" pitchFamily="34" charset="-120"/>
              </a:rPr>
              <a:t>la marge dure est infaisable sur données réelles (le solveur le prouve) → marge souple obligatoire · le noyau linéaire atteint 100 % en apprentissage mais 44 % en test : en 3 072 dimensions, même un hyperplan mémorise.</a:t>
            </a:r>
            <a:endParaRPr lang="en-US" sz="1250" dirty="0"/>
          </a:p>
        </p:txBody>
      </p:sp>
      <p:pic>
        <p:nvPicPr>
          <p:cNvPr id="10" name="Image 9">
            <a:extLst>
              <a:ext uri="{FF2B5EF4-FFF2-40B4-BE49-F238E27FC236}">
                <a16:creationId xmlns:a16="http://schemas.microsoft.com/office/drawing/2014/main" id="{42937273-1EDE-F6FE-7CA0-D4E64A86D19F}"/>
              </a:ext>
            </a:extLst>
          </p:cNvPr>
          <p:cNvPicPr>
            <a:picLocks noChangeAspect="1"/>
          </p:cNvPicPr>
          <p:nvPr/>
        </p:nvPicPr>
        <p:blipFill>
          <a:blip r:embed="rId3"/>
          <a:stretch>
            <a:fillRect/>
          </a:stretch>
        </p:blipFill>
        <p:spPr>
          <a:xfrm>
            <a:off x="6726927" y="640080"/>
            <a:ext cx="4110699" cy="3278152"/>
          </a:xfrm>
          <a:prstGeom prst="rect">
            <a:avLst/>
          </a:prstGeom>
        </p:spPr>
      </p:pic>
      <p:pic>
        <p:nvPicPr>
          <p:cNvPr id="12" name="Image 11">
            <a:extLst>
              <a:ext uri="{FF2B5EF4-FFF2-40B4-BE49-F238E27FC236}">
                <a16:creationId xmlns:a16="http://schemas.microsoft.com/office/drawing/2014/main" id="{EA96FE99-D9B4-B377-28F4-61333C0D3DD6}"/>
              </a:ext>
            </a:extLst>
          </p:cNvPr>
          <p:cNvPicPr>
            <a:picLocks noChangeAspect="1"/>
          </p:cNvPicPr>
          <p:nvPr/>
        </p:nvPicPr>
        <p:blipFill>
          <a:blip r:embed="rId4"/>
          <a:stretch>
            <a:fillRect/>
          </a:stretch>
        </p:blipFill>
        <p:spPr>
          <a:xfrm>
            <a:off x="6134429" y="3791011"/>
            <a:ext cx="5264104" cy="291899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B2118"/>
                </a:solidFill>
                <a:latin typeface="Cambria" pitchFamily="34" charset="0"/>
                <a:ea typeface="Cambria" pitchFamily="34" charset="-122"/>
                <a:cs typeface="Cambria" pitchFamily="34" charset="-120"/>
              </a:rPr>
              <a:t>4. MLP — le meilleur modèle</a:t>
            </a:r>
            <a:endParaRPr lang="en-US" sz="30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marL="0" indent="0">
              <a:buNone/>
            </a:pPr>
            <a:r>
              <a:rPr lang="en-US" sz="1400" i="1" dirty="0">
                <a:solidFill>
                  <a:srgbClr val="6E5E4E"/>
                </a:solidFill>
                <a:latin typeface="Calibri" pitchFamily="34" charset="0"/>
                <a:ea typeface="Calibri" pitchFamily="34" charset="-122"/>
                <a:cs typeface="Calibri" pitchFamily="34" charset="-120"/>
              </a:rPr>
              <a:t>extract (20 caractéristiques) · 20-32-16-3 · tanh · ~56 % en test</a:t>
            </a:r>
            <a:endParaRPr lang="en-US" sz="1400" dirty="0"/>
          </a:p>
        </p:txBody>
      </p:sp>
      <p:sp>
        <p:nvSpPr>
          <p:cNvPr id="4" name="Text 2"/>
          <p:cNvSpPr/>
          <p:nvPr/>
        </p:nvSpPr>
        <p:spPr>
          <a:xfrm>
            <a:off x="548640" y="1645920"/>
            <a:ext cx="5577840" cy="4480560"/>
          </a:xfrm>
          <a:prstGeom prst="rect">
            <a:avLst/>
          </a:prstGeom>
          <a:noFill/>
          <a:ln/>
        </p:spPr>
        <p:txBody>
          <a:bodyPr wrap="square" lIns="0" tIns="0" rIns="0" bIns="0" rtlCol="0" anchor="ctr"/>
          <a:lstStyle/>
          <a:p>
            <a:pPr marL="0" indent="0">
              <a:buNone/>
            </a:pPr>
            <a:r>
              <a:rPr lang="en-US" sz="1250" b="1" dirty="0">
                <a:solidFill>
                  <a:srgbClr val="2B2118"/>
                </a:solidFill>
                <a:latin typeface="Calibri" pitchFamily="34" charset="0"/>
                <a:ea typeface="Calibri" pitchFamily="34" charset="-122"/>
                <a:cs typeface="Calibri" pitchFamily="34" charset="-120"/>
              </a:rPr>
              <a:t>Le chemin vers le bon modèle. </a:t>
            </a:r>
            <a:r>
              <a:rPr lang="en-US" sz="1250" dirty="0">
                <a:solidFill>
                  <a:srgbClr val="6E5E4E"/>
                </a:solidFill>
                <a:latin typeface="Calibri" pitchFamily="34" charset="0"/>
                <a:ea typeface="Calibri" pitchFamily="34" charset="-122"/>
                <a:cs typeface="Calibri" pitchFamily="34" charset="-120"/>
              </a:rPr>
              <a:t>600 images en pixels bruts : 75 % / 42,5 % → sur-apprentissage massif. 9 000 images : 48 % / 48 % → sous-ajusté. La solution : 20 caractéristiques extraites, ~400 paramètres pour 7 200 exemples → 58 % / 56 %, écart &lt; 2 points : un modèle sain.
</a:t>
            </a:r>
            <a:r>
              <a:rPr lang="en-US" sz="1250" b="1" dirty="0">
                <a:solidFill>
                  <a:srgbClr val="C4552D"/>
                </a:solidFill>
                <a:latin typeface="Calibri" pitchFamily="34" charset="0"/>
                <a:ea typeface="Calibri" pitchFamily="34" charset="-122"/>
                <a:cs typeface="Calibri" pitchFamily="34" charset="-120"/>
              </a:rPr>
              <a:t>Résultat clé : </a:t>
            </a:r>
            <a:r>
              <a:rPr lang="en-US" sz="1250" dirty="0">
                <a:solidFill>
                  <a:srgbClr val="6E5E4E"/>
                </a:solidFill>
                <a:latin typeface="Calibri" pitchFamily="34" charset="0"/>
                <a:ea typeface="Calibri" pitchFamily="34" charset="-122"/>
                <a:cs typeface="Calibri" pitchFamily="34" charset="-120"/>
              </a:rPr>
              <a:t>le compromis se situe vers 250 époques — au-delà, apprentissage et test divergent (signature du sur-apprentissage), et plus le réseau est grand, plus vite il sur-apprend.
</a:t>
            </a:r>
            <a:r>
              <a:rPr lang="en-US" sz="1250" b="1" dirty="0">
                <a:solidFill>
                  <a:srgbClr val="2B2118"/>
                </a:solidFill>
                <a:latin typeface="Calibri" pitchFamily="34" charset="0"/>
                <a:ea typeface="Calibri" pitchFamily="34" charset="-122"/>
                <a:cs typeface="Calibri" pitchFamily="34" charset="-120"/>
              </a:rPr>
              <a:t>Limite identifiée : </a:t>
            </a:r>
            <a:r>
              <a:rPr lang="en-US" sz="1250" dirty="0">
                <a:solidFill>
                  <a:srgbClr val="6E5E4E"/>
                </a:solidFill>
                <a:latin typeface="Calibri" pitchFamily="34" charset="0"/>
                <a:ea typeface="Calibri" pitchFamily="34" charset="-122"/>
                <a:cs typeface="Calibri" pitchFamily="34" charset="-120"/>
              </a:rPr>
              <a:t>la profondeur n'apporte que +2,5 points — le facteur limitant est la richesse des 20 caractéristiques, pas la capacité du réseau.</a:t>
            </a:r>
            <a:endParaRPr lang="en-US" sz="1250" dirty="0"/>
          </a:p>
        </p:txBody>
      </p:sp>
      <p:pic>
        <p:nvPicPr>
          <p:cNvPr id="10" name="Image 9">
            <a:extLst>
              <a:ext uri="{FF2B5EF4-FFF2-40B4-BE49-F238E27FC236}">
                <a16:creationId xmlns:a16="http://schemas.microsoft.com/office/drawing/2014/main" id="{4797F9D5-B4D5-28C0-8502-D3C4AA6D744C}"/>
              </a:ext>
            </a:extLst>
          </p:cNvPr>
          <p:cNvPicPr>
            <a:picLocks noChangeAspect="1"/>
          </p:cNvPicPr>
          <p:nvPr/>
        </p:nvPicPr>
        <p:blipFill>
          <a:blip r:embed="rId3"/>
          <a:stretch>
            <a:fillRect/>
          </a:stretch>
        </p:blipFill>
        <p:spPr>
          <a:xfrm>
            <a:off x="6380445" y="1005840"/>
            <a:ext cx="5049555" cy="2828871"/>
          </a:xfrm>
          <a:prstGeom prst="rect">
            <a:avLst/>
          </a:prstGeom>
        </p:spPr>
      </p:pic>
      <p:pic>
        <p:nvPicPr>
          <p:cNvPr id="12" name="Image 11">
            <a:extLst>
              <a:ext uri="{FF2B5EF4-FFF2-40B4-BE49-F238E27FC236}">
                <a16:creationId xmlns:a16="http://schemas.microsoft.com/office/drawing/2014/main" id="{CC41F6C3-DB00-9E7E-E9B3-31BD0CF950C7}"/>
              </a:ext>
            </a:extLst>
          </p:cNvPr>
          <p:cNvPicPr>
            <a:picLocks noChangeAspect="1"/>
          </p:cNvPicPr>
          <p:nvPr/>
        </p:nvPicPr>
        <p:blipFill>
          <a:blip r:embed="rId4"/>
          <a:stretch>
            <a:fillRect/>
          </a:stretch>
        </p:blipFill>
        <p:spPr>
          <a:xfrm>
            <a:off x="6380445" y="3709836"/>
            <a:ext cx="5049556" cy="280002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B2118"/>
                </a:solidFill>
                <a:latin typeface="Cambria" pitchFamily="34" charset="0"/>
                <a:ea typeface="Cambria" pitchFamily="34" charset="-122"/>
                <a:cs typeface="Cambria" pitchFamily="34" charset="-120"/>
              </a:rPr>
              <a:t>Récapitulatif des quatre modèles</a:t>
            </a:r>
            <a:endParaRPr lang="en-US" sz="30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marL="0" indent="0">
              <a:buNone/>
            </a:pPr>
            <a:r>
              <a:rPr lang="en-US" sz="1400" i="1" dirty="0">
                <a:solidFill>
                  <a:srgbClr val="6E5E4E"/>
                </a:solidFill>
                <a:latin typeface="Calibri" pitchFamily="34" charset="0"/>
                <a:ea typeface="Calibri" pitchFamily="34" charset="-122"/>
                <a:cs typeface="Calibri" pitchFamily="34" charset="-120"/>
              </a:rPr>
              <a:t>Meilleures configurations observées sur le jeu réel</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2411183413"/>
              </p:ext>
            </p:extLst>
          </p:nvPr>
        </p:nvGraphicFramePr>
        <p:xfrm>
          <a:off x="548640" y="1645920"/>
          <a:ext cx="6583680" cy="2377440"/>
        </p:xfrm>
        <a:graphic>
          <a:graphicData uri="http://schemas.openxmlformats.org/drawingml/2006/table">
            <a:tbl>
              <a:tblPr/>
              <a:tblGrid>
                <a:gridCol w="169164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475488">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Modèle</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solidFill>
                      <a:srgbClr val="2B2118"/>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Représentation</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solidFill>
                      <a:srgbClr val="2B2118"/>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Apprentissage</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solidFill>
                      <a:srgbClr val="2B2118"/>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Test</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solidFill>
                      <a:srgbClr val="2B2118"/>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Classe la plus faible</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solidFill>
                      <a:srgbClr val="2B2118"/>
                    </a:solidFill>
                  </a:tcPr>
                </a:tc>
                <a:extLst>
                  <a:ext uri="{0D108BD9-81ED-4DB2-BD59-A6C34878D82A}">
                    <a16:rowId xmlns:a16="http://schemas.microsoft.com/office/drawing/2014/main" val="10000"/>
                  </a:ext>
                </a:extLst>
              </a:tr>
              <a:tr h="475488">
                <a:tc>
                  <a:txBody>
                    <a:bodyPr/>
                    <a:lstStyle/>
                    <a:p>
                      <a:pPr marL="0" indent="0" algn="l">
                        <a:buNone/>
                      </a:pPr>
                      <a:r>
                        <a:rPr lang="en-US" sz="1100" dirty="0">
                          <a:solidFill>
                            <a:srgbClr val="6E5E4E"/>
                          </a:solidFill>
                          <a:latin typeface="Calibri" pitchFamily="34" charset="0"/>
                          <a:ea typeface="Calibri" pitchFamily="34" charset="-122"/>
                          <a:cs typeface="Calibri" pitchFamily="34" charset="-120"/>
                        </a:rPr>
                        <a:t>Rosenblatt</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tcPr>
                </a:tc>
                <a:tc>
                  <a:txBody>
                    <a:bodyPr/>
                    <a:lstStyle/>
                    <a:p>
                      <a:pPr marL="0" indent="0" algn="l">
                        <a:buNone/>
                      </a:pPr>
                      <a:r>
                        <a:rPr lang="en-US" sz="1100" dirty="0">
                          <a:solidFill>
                            <a:srgbClr val="6E5E4E"/>
                          </a:solidFill>
                          <a:latin typeface="Calibri" pitchFamily="34" charset="0"/>
                          <a:ea typeface="Calibri" pitchFamily="34" charset="-122"/>
                          <a:cs typeface="Calibri" pitchFamily="34" charset="-120"/>
                        </a:rPr>
                        <a:t>flatten (3 072)</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tcPr>
                </a:tc>
                <a:tc>
                  <a:txBody>
                    <a:bodyPr/>
                    <a:lstStyle/>
                    <a:p>
                      <a:pPr marL="0" indent="0" algn="l">
                        <a:buNone/>
                      </a:pPr>
                      <a:r>
                        <a:rPr lang="en-US" sz="1100" dirty="0">
                          <a:solidFill>
                            <a:srgbClr val="6E5E4E"/>
                          </a:solidFill>
                          <a:latin typeface="Calibri" pitchFamily="34" charset="0"/>
                          <a:ea typeface="Calibri" pitchFamily="34" charset="-122"/>
                          <a:cs typeface="Calibri" pitchFamily="34" charset="-120"/>
                        </a:rPr>
                        <a:t>~47 %</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tcPr>
                </a:tc>
                <a:tc>
                  <a:txBody>
                    <a:bodyPr/>
                    <a:lstStyle/>
                    <a:p>
                      <a:pPr marL="0" indent="0" algn="l">
                        <a:buNone/>
                      </a:pPr>
                      <a:r>
                        <a:rPr lang="en-US" sz="1100" dirty="0">
                          <a:solidFill>
                            <a:srgbClr val="6E5E4E"/>
                          </a:solidFill>
                          <a:latin typeface="Calibri" pitchFamily="34" charset="0"/>
                          <a:ea typeface="Calibri" pitchFamily="34" charset="-122"/>
                          <a:cs typeface="Calibri" pitchFamily="34" charset="-120"/>
                        </a:rPr>
                        <a:t>~42 %</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tcPr>
                </a:tc>
                <a:tc>
                  <a:txBody>
                    <a:bodyPr/>
                    <a:lstStyle/>
                    <a:p>
                      <a:pPr marL="0" indent="0" algn="l">
                        <a:buNone/>
                      </a:pPr>
                      <a:r>
                        <a:rPr lang="en-US" sz="1100" dirty="0">
                          <a:solidFill>
                            <a:srgbClr val="6E5E4E"/>
                          </a:solidFill>
                          <a:latin typeface="Calibri" pitchFamily="34" charset="0"/>
                          <a:ea typeface="Calibri" pitchFamily="34" charset="-122"/>
                          <a:cs typeface="Calibri" pitchFamily="34" charset="-120"/>
                        </a:rPr>
                        <a:t>guépard (≈0 %) — dégénéré</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lgn="l">
                        <a:buNone/>
                      </a:pPr>
                      <a:r>
                        <a:rPr lang="en-US" sz="1100" dirty="0">
                          <a:solidFill>
                            <a:srgbClr val="6E5E4E"/>
                          </a:solidFill>
                          <a:latin typeface="Calibri" pitchFamily="34" charset="0"/>
                          <a:ea typeface="Calibri" pitchFamily="34" charset="-122"/>
                          <a:cs typeface="Calibri" pitchFamily="34" charset="-120"/>
                        </a:rPr>
                        <a:t>RBFN</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tcPr>
                </a:tc>
                <a:tc>
                  <a:txBody>
                    <a:bodyPr/>
                    <a:lstStyle/>
                    <a:p>
                      <a:pPr marL="0" indent="0" algn="l">
                        <a:buNone/>
                      </a:pPr>
                      <a:r>
                        <a:rPr lang="en-US" sz="1100" dirty="0">
                          <a:solidFill>
                            <a:srgbClr val="6E5E4E"/>
                          </a:solidFill>
                          <a:latin typeface="Calibri" pitchFamily="34" charset="0"/>
                          <a:ea typeface="Calibri" pitchFamily="34" charset="-122"/>
                          <a:cs typeface="Calibri" pitchFamily="34" charset="-120"/>
                        </a:rPr>
                        <a:t>flatten (3 072)</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tcPr>
                </a:tc>
                <a:tc>
                  <a:txBody>
                    <a:bodyPr/>
                    <a:lstStyle/>
                    <a:p>
                      <a:pPr marL="0" indent="0" algn="l">
                        <a:buNone/>
                      </a:pPr>
                      <a:r>
                        <a:rPr lang="en-US" sz="1100" dirty="0">
                          <a:solidFill>
                            <a:srgbClr val="6E5E4E"/>
                          </a:solidFill>
                          <a:latin typeface="Calibri" pitchFamily="34" charset="0"/>
                          <a:ea typeface="Calibri" pitchFamily="34" charset="-122"/>
                          <a:cs typeface="Calibri" pitchFamily="34" charset="-120"/>
                        </a:rPr>
                        <a:t>~56 %</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tcPr>
                </a:tc>
                <a:tc>
                  <a:txBody>
                    <a:bodyPr/>
                    <a:lstStyle/>
                    <a:p>
                      <a:pPr marL="0" indent="0" algn="l">
                        <a:buNone/>
                      </a:pPr>
                      <a:r>
                        <a:rPr lang="en-US" sz="1100" dirty="0">
                          <a:solidFill>
                            <a:srgbClr val="6E5E4E"/>
                          </a:solidFill>
                          <a:latin typeface="Calibri" pitchFamily="34" charset="0"/>
                          <a:ea typeface="Calibri" pitchFamily="34" charset="-122"/>
                          <a:cs typeface="Calibri" pitchFamily="34" charset="-120"/>
                        </a:rPr>
                        <a:t>~54 %</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tcPr>
                </a:tc>
                <a:tc>
                  <a:txBody>
                    <a:bodyPr/>
                    <a:lstStyle/>
                    <a:p>
                      <a:pPr marL="0" indent="0" algn="l">
                        <a:buNone/>
                      </a:pPr>
                      <a:r>
                        <a:rPr lang="en-US" sz="1100" dirty="0">
                          <a:solidFill>
                            <a:srgbClr val="6E5E4E"/>
                          </a:solidFill>
                          <a:latin typeface="Calibri" pitchFamily="34" charset="0"/>
                          <a:ea typeface="Calibri" pitchFamily="34" charset="-122"/>
                          <a:cs typeface="Calibri" pitchFamily="34" charset="-120"/>
                        </a:rPr>
                        <a:t>lion (~17 %)</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lgn="l">
                        <a:buNone/>
                      </a:pPr>
                      <a:r>
                        <a:rPr lang="en-US" sz="1100" dirty="0">
                          <a:solidFill>
                            <a:srgbClr val="6E5E4E"/>
                          </a:solidFill>
                          <a:latin typeface="Calibri" pitchFamily="34" charset="0"/>
                          <a:ea typeface="Calibri" pitchFamily="34" charset="-122"/>
                          <a:cs typeface="Calibri" pitchFamily="34" charset="-120"/>
                        </a:rPr>
                        <a:t>SVM (γ=0,01, C=10)</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tcPr>
                </a:tc>
                <a:tc>
                  <a:txBody>
                    <a:bodyPr/>
                    <a:lstStyle/>
                    <a:p>
                      <a:pPr marL="0" indent="0" algn="l">
                        <a:buNone/>
                      </a:pPr>
                      <a:r>
                        <a:rPr lang="en-US" sz="1100" dirty="0">
                          <a:solidFill>
                            <a:srgbClr val="6E5E4E"/>
                          </a:solidFill>
                          <a:latin typeface="Calibri" pitchFamily="34" charset="0"/>
                          <a:ea typeface="Calibri" pitchFamily="34" charset="-122"/>
                          <a:cs typeface="Calibri" pitchFamily="34" charset="-120"/>
                        </a:rPr>
                        <a:t>flatten (3 072)</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tcPr>
                </a:tc>
                <a:tc>
                  <a:txBody>
                    <a:bodyPr/>
                    <a:lstStyle/>
                    <a:p>
                      <a:pPr marL="0" indent="0" algn="l">
                        <a:buNone/>
                      </a:pPr>
                      <a:r>
                        <a:rPr lang="en-US" sz="1100" dirty="0">
                          <a:solidFill>
                            <a:srgbClr val="6E5E4E"/>
                          </a:solidFill>
                          <a:latin typeface="Calibri" pitchFamily="34" charset="0"/>
                          <a:ea typeface="Calibri" pitchFamily="34" charset="-122"/>
                          <a:cs typeface="Calibri" pitchFamily="34" charset="-120"/>
                        </a:rPr>
                        <a:t>100 %</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tcPr>
                </a:tc>
                <a:tc>
                  <a:txBody>
                    <a:bodyPr/>
                    <a:lstStyle/>
                    <a:p>
                      <a:pPr marL="0" indent="0" algn="l">
                        <a:buNone/>
                      </a:pPr>
                      <a:r>
                        <a:rPr lang="en-US" sz="1100" dirty="0">
                          <a:solidFill>
                            <a:srgbClr val="6E5E4E"/>
                          </a:solidFill>
                          <a:latin typeface="Calibri" pitchFamily="34" charset="0"/>
                          <a:ea typeface="Calibri" pitchFamily="34" charset="-122"/>
                          <a:cs typeface="Calibri" pitchFamily="34" charset="-120"/>
                        </a:rPr>
                        <a:t>54,3 %</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tcPr>
                </a:tc>
                <a:tc>
                  <a:txBody>
                    <a:bodyPr/>
                    <a:lstStyle/>
                    <a:p>
                      <a:pPr marL="0" indent="0" algn="l">
                        <a:buNone/>
                      </a:pPr>
                      <a:r>
                        <a:rPr lang="en-US" sz="1100" dirty="0">
                          <a:solidFill>
                            <a:srgbClr val="6E5E4E"/>
                          </a:solidFill>
                          <a:latin typeface="Calibri" pitchFamily="34" charset="0"/>
                          <a:ea typeface="Calibri" pitchFamily="34" charset="-122"/>
                          <a:cs typeface="Calibri" pitchFamily="34" charset="-120"/>
                        </a:rPr>
                        <a:t>guépard (39 %)</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lgn="l">
                        <a:buNone/>
                      </a:pPr>
                      <a:r>
                        <a:rPr lang="en-US" sz="1100" b="1" dirty="0">
                          <a:solidFill>
                            <a:srgbClr val="2B2118"/>
                          </a:solidFill>
                          <a:latin typeface="Calibri" pitchFamily="34" charset="0"/>
                          <a:ea typeface="Calibri" pitchFamily="34" charset="-122"/>
                          <a:cs typeface="Calibri" pitchFamily="34" charset="-120"/>
                        </a:rPr>
                        <a:t>MLP (250 époques)</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solidFill>
                      <a:srgbClr val="F2EAD9"/>
                    </a:solidFill>
                  </a:tcPr>
                </a:tc>
                <a:tc>
                  <a:txBody>
                    <a:bodyPr/>
                    <a:lstStyle/>
                    <a:p>
                      <a:pPr marL="0" indent="0" algn="l">
                        <a:buNone/>
                      </a:pPr>
                      <a:r>
                        <a:rPr lang="en-US" sz="1100" dirty="0">
                          <a:solidFill>
                            <a:srgbClr val="6E5E4E"/>
                          </a:solidFill>
                          <a:latin typeface="Calibri" pitchFamily="34" charset="0"/>
                          <a:ea typeface="Calibri" pitchFamily="34" charset="-122"/>
                          <a:cs typeface="Calibri" pitchFamily="34" charset="-120"/>
                        </a:rPr>
                        <a:t>flatten (3 072)</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solidFill>
                      <a:srgbClr val="F2EAD9"/>
                    </a:solidFill>
                  </a:tcPr>
                </a:tc>
                <a:tc>
                  <a:txBody>
                    <a:bodyPr/>
                    <a:lstStyle/>
                    <a:p>
                      <a:pPr marL="0" indent="0" algn="l">
                        <a:buNone/>
                      </a:pPr>
                      <a:r>
                        <a:rPr lang="en-US" sz="1100" dirty="0">
                          <a:solidFill>
                            <a:srgbClr val="6E5E4E"/>
                          </a:solidFill>
                          <a:latin typeface="Calibri" pitchFamily="34" charset="0"/>
                          <a:ea typeface="Calibri" pitchFamily="34" charset="-122"/>
                          <a:cs typeface="Calibri" pitchFamily="34" charset="-120"/>
                        </a:rPr>
                        <a:t>~66 %</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solidFill>
                      <a:srgbClr val="F2EAD9"/>
                    </a:solidFill>
                  </a:tcPr>
                </a:tc>
                <a:tc>
                  <a:txBody>
                    <a:bodyPr/>
                    <a:lstStyle/>
                    <a:p>
                      <a:pPr marL="0" indent="0" algn="l">
                        <a:buNone/>
                      </a:pPr>
                      <a:r>
                        <a:rPr lang="en-US" sz="1100" b="1" dirty="0">
                          <a:solidFill>
                            <a:srgbClr val="C4552D"/>
                          </a:solidFill>
                          <a:latin typeface="Calibri" pitchFamily="34" charset="0"/>
                          <a:ea typeface="Calibri" pitchFamily="34" charset="-122"/>
                          <a:cs typeface="Calibri" pitchFamily="34" charset="-120"/>
                        </a:rPr>
                        <a:t>~56 %</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solidFill>
                      <a:srgbClr val="F2EAD9"/>
                    </a:solidFill>
                  </a:tcPr>
                </a:tc>
                <a:tc>
                  <a:txBody>
                    <a:bodyPr/>
                    <a:lstStyle/>
                    <a:p>
                      <a:pPr marL="0" indent="0" algn="l">
                        <a:buNone/>
                      </a:pPr>
                      <a:r>
                        <a:rPr lang="en-US" sz="1100" dirty="0">
                          <a:solidFill>
                            <a:srgbClr val="6E5E4E"/>
                          </a:solidFill>
                          <a:latin typeface="Calibri" pitchFamily="34" charset="0"/>
                          <a:ea typeface="Calibri" pitchFamily="34" charset="-122"/>
                          <a:cs typeface="Calibri" pitchFamily="34" charset="-120"/>
                        </a:rPr>
                        <a:t>guépard (51 %)</a:t>
                      </a:r>
                      <a:endParaRPr lang="en-US" sz="1100" dirty="0">
                        <a:latin typeface="Calibri" charset="0"/>
                        <a:ea typeface="Calibri" charset="0"/>
                        <a:cs typeface="Calibri" charset="0"/>
                      </a:endParaRPr>
                    </a:p>
                  </a:txBody>
                  <a:tcPr anchor="ctr">
                    <a:lnL w="9525" cap="flat" cmpd="sng" algn="ctr">
                      <a:solidFill>
                        <a:srgbClr val="D8CDBA"/>
                      </a:solidFill>
                      <a:prstDash val="solid"/>
                      <a:round/>
                      <a:headEnd type="none" w="med" len="med"/>
                      <a:tailEnd type="none" w="med" len="med"/>
                    </a:lnL>
                    <a:lnR w="9525" cap="flat" cmpd="sng" algn="ctr">
                      <a:solidFill>
                        <a:srgbClr val="D8CDBA"/>
                      </a:solidFill>
                      <a:prstDash val="solid"/>
                      <a:round/>
                      <a:headEnd type="none" w="med" len="med"/>
                      <a:tailEnd type="none" w="med" len="med"/>
                    </a:lnR>
                    <a:lnT w="9525" cap="flat" cmpd="sng" algn="ctr">
                      <a:solidFill>
                        <a:srgbClr val="D8CDBA"/>
                      </a:solidFill>
                      <a:prstDash val="solid"/>
                      <a:round/>
                      <a:headEnd type="none" w="med" len="med"/>
                      <a:tailEnd type="none" w="med" len="med"/>
                    </a:lnT>
                    <a:lnB w="9525" cap="flat" cmpd="sng" algn="ctr">
                      <a:solidFill>
                        <a:srgbClr val="D8CDBA"/>
                      </a:solidFill>
                      <a:prstDash val="solid"/>
                      <a:round/>
                      <a:headEnd type="none" w="med" len="med"/>
                      <a:tailEnd type="none" w="med" len="med"/>
                    </a:lnB>
                    <a:solidFill>
                      <a:srgbClr val="F2EAD9"/>
                    </a:solidFill>
                  </a:tcPr>
                </a:tc>
                <a:extLst>
                  <a:ext uri="{0D108BD9-81ED-4DB2-BD59-A6C34878D82A}">
                    <a16:rowId xmlns:a16="http://schemas.microsoft.com/office/drawing/2014/main" val="10004"/>
                  </a:ext>
                </a:extLst>
              </a:tr>
            </a:tbl>
          </a:graphicData>
        </a:graphic>
      </p:graphicFrame>
      <p:graphicFrame>
        <p:nvGraphicFramePr>
          <p:cNvPr id="5" name="Chart 0"/>
          <p:cNvGraphicFramePr/>
          <p:nvPr/>
        </p:nvGraphicFramePr>
        <p:xfrm>
          <a:off x="7406640" y="1554480"/>
          <a:ext cx="429768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548640" y="4343400"/>
            <a:ext cx="6583680" cy="1965960"/>
          </a:xfrm>
          <a:prstGeom prst="roundRect">
            <a:avLst>
              <a:gd name="adj" fmla="val 3721"/>
            </a:avLst>
          </a:prstGeom>
          <a:solidFill>
            <a:srgbClr val="F2EAD9"/>
          </a:solidFill>
          <a:ln/>
        </p:spPr>
        <p:txBody>
          <a:bodyPr/>
          <a:lstStyle/>
          <a:p>
            <a:endParaRPr lang="fr-FR"/>
          </a:p>
        </p:txBody>
      </p:sp>
      <p:sp>
        <p:nvSpPr>
          <p:cNvPr id="7" name="Text 3"/>
          <p:cNvSpPr/>
          <p:nvPr/>
        </p:nvSpPr>
        <p:spPr>
          <a:xfrm>
            <a:off x="822960" y="4526280"/>
            <a:ext cx="6035040" cy="1645920"/>
          </a:xfrm>
          <a:prstGeom prst="rect">
            <a:avLst/>
          </a:prstGeom>
          <a:noFill/>
          <a:ln/>
        </p:spPr>
        <p:txBody>
          <a:bodyPr wrap="square" lIns="0" tIns="0" rIns="0" bIns="0" rtlCol="0" anchor="ctr"/>
          <a:lstStyle/>
          <a:p>
            <a:r>
              <a:rPr lang="en-US" sz="1200" b="1" dirty="0" err="1">
                <a:solidFill>
                  <a:srgbClr val="C4552D"/>
                </a:solidFill>
                <a:latin typeface="Calibri" pitchFamily="34" charset="0"/>
                <a:ea typeface="Calibri" pitchFamily="34" charset="-122"/>
                <a:cs typeface="Calibri" pitchFamily="34" charset="-120"/>
              </a:rPr>
              <a:t>L'observation</a:t>
            </a:r>
            <a:r>
              <a:rPr lang="en-US" sz="1200" b="1" dirty="0">
                <a:solidFill>
                  <a:srgbClr val="C4552D"/>
                </a:solidFill>
                <a:latin typeface="Calibri" pitchFamily="34" charset="0"/>
                <a:ea typeface="Calibri" pitchFamily="34" charset="-122"/>
                <a:cs typeface="Calibri" pitchFamily="34" charset="-120"/>
              </a:rPr>
              <a:t> la plus riche du </a:t>
            </a:r>
            <a:r>
              <a:rPr lang="en-US" sz="1200" b="1" dirty="0" err="1">
                <a:solidFill>
                  <a:srgbClr val="C4552D"/>
                </a:solidFill>
                <a:latin typeface="Calibri" pitchFamily="34" charset="0"/>
                <a:ea typeface="Calibri" pitchFamily="34" charset="-122"/>
                <a:cs typeface="Calibri" pitchFamily="34" charset="-120"/>
              </a:rPr>
              <a:t>projet</a:t>
            </a:r>
            <a:r>
              <a:rPr lang="en-US" sz="1200" b="1" dirty="0">
                <a:solidFill>
                  <a:srgbClr val="C4552D"/>
                </a:solidFill>
                <a:latin typeface="Calibri" pitchFamily="34" charset="0"/>
                <a:ea typeface="Calibri" pitchFamily="34" charset="-122"/>
                <a:cs typeface="Calibri" pitchFamily="34" charset="-120"/>
              </a:rPr>
              <a:t> : </a:t>
            </a:r>
            <a:r>
              <a:rPr lang="en-US" sz="1200" dirty="0">
                <a:solidFill>
                  <a:srgbClr val="2B2118"/>
                </a:solidFill>
                <a:latin typeface="Calibri" pitchFamily="34" charset="0"/>
                <a:ea typeface="Calibri" pitchFamily="34" charset="-122"/>
                <a:cs typeface="Calibri" pitchFamily="34" charset="-120"/>
              </a:rPr>
              <a:t> Dans </a:t>
            </a:r>
            <a:r>
              <a:rPr lang="en-US" sz="1200" dirty="0" err="1">
                <a:solidFill>
                  <a:srgbClr val="2B2118"/>
                </a:solidFill>
                <a:latin typeface="Calibri" pitchFamily="34" charset="0"/>
                <a:ea typeface="Calibri" pitchFamily="34" charset="-122"/>
                <a:cs typeface="Calibri" pitchFamily="34" charset="-120"/>
              </a:rPr>
              <a:t>tous</a:t>
            </a:r>
            <a:r>
              <a:rPr lang="en-US" sz="1200" dirty="0">
                <a:solidFill>
                  <a:srgbClr val="2B2118"/>
                </a:solidFill>
                <a:latin typeface="Calibri" pitchFamily="34" charset="0"/>
                <a:ea typeface="Calibri" pitchFamily="34" charset="-122"/>
                <a:cs typeface="Calibri" pitchFamily="34" charset="-120"/>
              </a:rPr>
              <a:t> les </a:t>
            </a:r>
            <a:r>
              <a:rPr lang="en-US" sz="1200" dirty="0" err="1">
                <a:solidFill>
                  <a:srgbClr val="2B2118"/>
                </a:solidFill>
                <a:latin typeface="Calibri" pitchFamily="34" charset="0"/>
                <a:ea typeface="Calibri" pitchFamily="34" charset="-122"/>
                <a:cs typeface="Calibri" pitchFamily="34" charset="-120"/>
              </a:rPr>
              <a:t>modèles</a:t>
            </a:r>
            <a:r>
              <a:rPr lang="en-US" sz="1200" dirty="0">
                <a:solidFill>
                  <a:srgbClr val="2B2118"/>
                </a:solidFill>
                <a:latin typeface="Calibri" pitchFamily="34" charset="0"/>
                <a:ea typeface="Calibri" pitchFamily="34" charset="-122"/>
                <a:cs typeface="Calibri" pitchFamily="34" charset="-120"/>
              </a:rPr>
              <a:t> la </a:t>
            </a:r>
            <a:r>
              <a:rPr lang="en-US" sz="1200" dirty="0" err="1">
                <a:solidFill>
                  <a:srgbClr val="2B2118"/>
                </a:solidFill>
                <a:latin typeface="Calibri" pitchFamily="34" charset="0"/>
                <a:ea typeface="Calibri" pitchFamily="34" charset="-122"/>
                <a:cs typeface="Calibri" pitchFamily="34" charset="-120"/>
              </a:rPr>
              <a:t>classe</a:t>
            </a:r>
            <a:r>
              <a:rPr lang="en-US" sz="1200" dirty="0">
                <a:solidFill>
                  <a:srgbClr val="2B2118"/>
                </a:solidFill>
                <a:latin typeface="Calibri" pitchFamily="34" charset="0"/>
                <a:ea typeface="Calibri" pitchFamily="34" charset="-122"/>
                <a:cs typeface="Calibri" pitchFamily="34" charset="-120"/>
              </a:rPr>
              <a:t> la plus </a:t>
            </a:r>
            <a:r>
              <a:rPr lang="en-US" sz="1200" dirty="0" err="1">
                <a:solidFill>
                  <a:srgbClr val="2B2118"/>
                </a:solidFill>
                <a:latin typeface="Calibri" pitchFamily="34" charset="0"/>
                <a:ea typeface="Calibri" pitchFamily="34" charset="-122"/>
                <a:cs typeface="Calibri" pitchFamily="34" charset="-120"/>
              </a:rPr>
              <a:t>faible</a:t>
            </a:r>
            <a:r>
              <a:rPr lang="en-US" sz="1200" dirty="0">
                <a:solidFill>
                  <a:srgbClr val="2B2118"/>
                </a:solidFill>
                <a:latin typeface="Calibri" pitchFamily="34" charset="0"/>
                <a:ea typeface="Calibri" pitchFamily="34" charset="-122"/>
                <a:cs typeface="Calibri" pitchFamily="34" charset="-120"/>
              </a:rPr>
              <a:t> est le </a:t>
            </a:r>
            <a:r>
              <a:rPr lang="en-US" sz="1200" dirty="0" err="1">
                <a:solidFill>
                  <a:srgbClr val="2B2118"/>
                </a:solidFill>
                <a:latin typeface="Calibri" pitchFamily="34" charset="0"/>
                <a:ea typeface="Calibri" pitchFamily="34" charset="-122"/>
                <a:cs typeface="Calibri" pitchFamily="34" charset="-120"/>
              </a:rPr>
              <a:t>Guépard</a:t>
            </a:r>
            <a:r>
              <a:rPr lang="en-US" sz="1200" dirty="0">
                <a:solidFill>
                  <a:srgbClr val="2B2118"/>
                </a:solidFill>
                <a:latin typeface="Calibri" pitchFamily="34" charset="0"/>
                <a:ea typeface="Calibri" pitchFamily="34" charset="-122"/>
                <a:cs typeface="Calibri" pitchFamily="34" charset="-120"/>
              </a:rPr>
              <a:t>, </a:t>
            </a:r>
            <a:r>
              <a:rPr lang="en-US" sz="1200" dirty="0" err="1">
                <a:solidFill>
                  <a:srgbClr val="2B2118"/>
                </a:solidFill>
                <a:latin typeface="Calibri" pitchFamily="34" charset="0"/>
                <a:ea typeface="Calibri" pitchFamily="34" charset="-122"/>
                <a:cs typeface="Calibri" pitchFamily="34" charset="-120"/>
              </a:rPr>
              <a:t>généralement</a:t>
            </a:r>
            <a:r>
              <a:rPr lang="en-US" sz="1200" dirty="0">
                <a:solidFill>
                  <a:srgbClr val="2B2118"/>
                </a:solidFill>
                <a:latin typeface="Calibri" pitchFamily="34" charset="0"/>
                <a:ea typeface="Calibri" pitchFamily="34" charset="-122"/>
                <a:cs typeface="Calibri" pitchFamily="34" charset="-120"/>
              </a:rPr>
              <a:t> la </a:t>
            </a:r>
            <a:r>
              <a:rPr lang="en-US" sz="1200" dirty="0" err="1">
                <a:solidFill>
                  <a:srgbClr val="2B2118"/>
                </a:solidFill>
                <a:latin typeface="Calibri" pitchFamily="34" charset="0"/>
                <a:ea typeface="Calibri" pitchFamily="34" charset="-122"/>
                <a:cs typeface="Calibri" pitchFamily="34" charset="-120"/>
              </a:rPr>
              <a:t>classe</a:t>
            </a:r>
            <a:r>
              <a:rPr lang="en-US" sz="1200" dirty="0">
                <a:solidFill>
                  <a:srgbClr val="2B2118"/>
                </a:solidFill>
                <a:latin typeface="Calibri" pitchFamily="34" charset="0"/>
                <a:ea typeface="Calibri" pitchFamily="34" charset="-122"/>
                <a:cs typeface="Calibri" pitchFamily="34" charset="-120"/>
              </a:rPr>
              <a:t> Chat est bien </a:t>
            </a:r>
            <a:r>
              <a:rPr lang="en-US" sz="1200" dirty="0" err="1">
                <a:solidFill>
                  <a:srgbClr val="2B2118"/>
                </a:solidFill>
                <a:latin typeface="Calibri" pitchFamily="34" charset="0"/>
                <a:ea typeface="Calibri" pitchFamily="34" charset="-122"/>
                <a:cs typeface="Calibri" pitchFamily="34" charset="-120"/>
              </a:rPr>
              <a:t>reconnu</a:t>
            </a:r>
            <a:r>
              <a:rPr lang="en-US" sz="1200" dirty="0">
                <a:solidFill>
                  <a:srgbClr val="2B2118"/>
                </a:solidFill>
                <a:latin typeface="Calibri" pitchFamily="34" charset="0"/>
                <a:ea typeface="Calibri" pitchFamily="34" charset="-122"/>
                <a:cs typeface="Calibri" pitchFamily="34" charset="-120"/>
              </a:rPr>
              <a:t> avec des </a:t>
            </a:r>
            <a:r>
              <a:rPr lang="en-US" sz="1200" dirty="0" err="1">
                <a:solidFill>
                  <a:srgbClr val="2B2118"/>
                </a:solidFill>
                <a:latin typeface="Calibri" pitchFamily="34" charset="0"/>
                <a:ea typeface="Calibri" pitchFamily="34" charset="-122"/>
                <a:cs typeface="Calibri" pitchFamily="34" charset="-120"/>
              </a:rPr>
              <a:t>attributs</a:t>
            </a:r>
            <a:r>
              <a:rPr lang="en-US" sz="1200" dirty="0">
                <a:solidFill>
                  <a:srgbClr val="2B2118"/>
                </a:solidFill>
                <a:latin typeface="Calibri" pitchFamily="34" charset="0"/>
                <a:ea typeface="Calibri" pitchFamily="34" charset="-122"/>
                <a:cs typeface="Calibri" pitchFamily="34" charset="-120"/>
              </a:rPr>
              <a:t> </a:t>
            </a:r>
            <a:r>
              <a:rPr lang="en-US" sz="1200" dirty="0" err="1">
                <a:solidFill>
                  <a:srgbClr val="2B2118"/>
                </a:solidFill>
                <a:latin typeface="Calibri" pitchFamily="34" charset="0"/>
                <a:ea typeface="Calibri" pitchFamily="34" charset="-122"/>
                <a:cs typeface="Calibri" pitchFamily="34" charset="-120"/>
              </a:rPr>
              <a:t>distingués</a:t>
            </a:r>
            <a:r>
              <a:rPr lang="en-US" sz="1200" dirty="0">
                <a:solidFill>
                  <a:srgbClr val="2B2118"/>
                </a:solidFill>
                <a:latin typeface="Calibri" pitchFamily="34" charset="0"/>
                <a:ea typeface="Calibri" pitchFamily="34" charset="-122"/>
                <a:cs typeface="Calibri" pitchFamily="34" charset="-120"/>
              </a:rPr>
              <a:t> plus </a:t>
            </a:r>
            <a:r>
              <a:rPr lang="en-US" sz="1200" dirty="0" err="1">
                <a:solidFill>
                  <a:srgbClr val="2B2118"/>
                </a:solidFill>
                <a:latin typeface="Calibri" pitchFamily="34" charset="0"/>
                <a:ea typeface="Calibri" pitchFamily="34" charset="-122"/>
                <a:cs typeface="Calibri" pitchFamily="34" charset="-120"/>
              </a:rPr>
              <a:t>facilement</a:t>
            </a:r>
            <a:r>
              <a:rPr lang="en-US" sz="1200" dirty="0">
                <a:solidFill>
                  <a:srgbClr val="2B2118"/>
                </a:solidFill>
                <a:latin typeface="Calibri" pitchFamily="34" charset="0"/>
                <a:ea typeface="Calibri" pitchFamily="34" charset="-122"/>
                <a:cs typeface="Calibri" pitchFamily="34" charset="-120"/>
              </a:rPr>
              <a:t> par </a:t>
            </a:r>
            <a:r>
              <a:rPr lang="en-US" sz="1200" dirty="0" err="1">
                <a:solidFill>
                  <a:srgbClr val="2B2118"/>
                </a:solidFill>
                <a:latin typeface="Calibri" pitchFamily="34" charset="0"/>
                <a:ea typeface="Calibri" pitchFamily="34" charset="-122"/>
                <a:cs typeface="Calibri" pitchFamily="34" charset="-120"/>
              </a:rPr>
              <a:t>nos</a:t>
            </a:r>
            <a:r>
              <a:rPr lang="en-US" sz="1200" dirty="0">
                <a:solidFill>
                  <a:srgbClr val="2B2118"/>
                </a:solidFill>
                <a:latin typeface="Calibri" pitchFamily="34" charset="0"/>
                <a:ea typeface="Calibri" pitchFamily="34" charset="-122"/>
                <a:cs typeface="Calibri" pitchFamily="34" charset="-120"/>
              </a:rPr>
              <a:t> </a:t>
            </a:r>
            <a:r>
              <a:rPr lang="en-US" sz="1200" dirty="0" err="1">
                <a:solidFill>
                  <a:srgbClr val="2B2118"/>
                </a:solidFill>
                <a:latin typeface="Calibri" pitchFamily="34" charset="0"/>
                <a:ea typeface="Calibri" pitchFamily="34" charset="-122"/>
                <a:cs typeface="Calibri" pitchFamily="34" charset="-120"/>
              </a:rPr>
              <a:t>modèles</a:t>
            </a:r>
            <a:r>
              <a:rPr lang="en-US" sz="1200" dirty="0">
                <a:solidFill>
                  <a:srgbClr val="2B2118"/>
                </a:solidFill>
                <a:latin typeface="Calibri" pitchFamily="34" charset="0"/>
                <a:ea typeface="Calibri" pitchFamily="34" charset="-122"/>
                <a:cs typeface="Calibri" pitchFamily="34" charset="-120"/>
              </a:rPr>
              <a:t>,</a:t>
            </a:r>
            <a:endParaRPr lang="en-US" sz="1200" dirty="0"/>
          </a:p>
        </p:txBody>
      </p:sp>
      <p:sp>
        <p:nvSpPr>
          <p:cNvPr id="8" name="Text 4"/>
          <p:cNvSpPr/>
          <p:nvPr/>
        </p:nvSpPr>
        <p:spPr>
          <a:xfrm>
            <a:off x="7406640" y="4800600"/>
            <a:ext cx="4297680" cy="320040"/>
          </a:xfrm>
          <a:prstGeom prst="rect">
            <a:avLst/>
          </a:prstGeom>
          <a:noFill/>
          <a:ln/>
        </p:spPr>
        <p:txBody>
          <a:bodyPr wrap="square" lIns="0" tIns="0" rIns="0" bIns="0" rtlCol="0" anchor="ctr"/>
          <a:lstStyle/>
          <a:p>
            <a:pPr marL="0" indent="0" algn="ctr">
              <a:buNone/>
            </a:pPr>
            <a:r>
              <a:rPr lang="en-US" sz="1050" i="1" dirty="0">
                <a:solidFill>
                  <a:srgbClr val="6E5E4E"/>
                </a:solidFill>
                <a:latin typeface="Calibri" pitchFamily="34" charset="0"/>
                <a:ea typeface="Calibri" pitchFamily="34" charset="-122"/>
                <a:cs typeface="Calibri" pitchFamily="34" charset="-120"/>
              </a:rPr>
              <a:t>Repère : hasard = 33 % (3 classes)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B2118"/>
                </a:solidFill>
                <a:latin typeface="Cambria" pitchFamily="34" charset="0"/>
                <a:ea typeface="Cambria" pitchFamily="34" charset="-122"/>
                <a:cs typeface="Cambria" pitchFamily="34" charset="-120"/>
              </a:rPr>
              <a:t>Problèmes rencontrés… et résolus</a:t>
            </a:r>
            <a:endParaRPr lang="en-US" sz="3000" dirty="0"/>
          </a:p>
        </p:txBody>
      </p:sp>
      <p:sp>
        <p:nvSpPr>
          <p:cNvPr id="4" name="Shape 2"/>
          <p:cNvSpPr/>
          <p:nvPr/>
        </p:nvSpPr>
        <p:spPr>
          <a:xfrm>
            <a:off x="548640" y="1554480"/>
            <a:ext cx="5440680" cy="841248"/>
          </a:xfrm>
          <a:prstGeom prst="roundRect">
            <a:avLst>
              <a:gd name="adj" fmla="val 6522"/>
            </a:avLst>
          </a:prstGeom>
          <a:solidFill>
            <a:srgbClr val="F2EAD9"/>
          </a:solidFill>
          <a:ln/>
        </p:spPr>
        <p:txBody>
          <a:bodyPr/>
          <a:lstStyle/>
          <a:p>
            <a:endParaRPr lang="fr-FR"/>
          </a:p>
        </p:txBody>
      </p:sp>
      <p:sp>
        <p:nvSpPr>
          <p:cNvPr id="5" name="Text 3"/>
          <p:cNvSpPr/>
          <p:nvPr/>
        </p:nvSpPr>
        <p:spPr>
          <a:xfrm>
            <a:off x="777240" y="1554480"/>
            <a:ext cx="5029200" cy="841248"/>
          </a:xfrm>
          <a:prstGeom prst="rect">
            <a:avLst/>
          </a:prstGeom>
          <a:noFill/>
          <a:ln/>
        </p:spPr>
        <p:txBody>
          <a:bodyPr wrap="square" lIns="0" tIns="0" rIns="0" bIns="0" rtlCol="0" anchor="ctr"/>
          <a:lstStyle/>
          <a:p>
            <a:pPr marL="0" indent="0">
              <a:buNone/>
            </a:pPr>
            <a:r>
              <a:rPr lang="en-US" sz="1100" b="1" dirty="0">
                <a:solidFill>
                  <a:srgbClr val="2B2118"/>
                </a:solidFill>
                <a:latin typeface="Calibri" pitchFamily="34" charset="0"/>
                <a:ea typeface="Calibri" pitchFamily="34" charset="-122"/>
                <a:cs typeface="Calibri" pitchFamily="34" charset="-120"/>
              </a:rPr>
              <a:t>MLP figé à 33,3 % pendant 5 000 époques</a:t>
            </a:r>
            <a:endParaRPr lang="en-US" sz="1100" dirty="0"/>
          </a:p>
        </p:txBody>
      </p:sp>
      <p:sp>
        <p:nvSpPr>
          <p:cNvPr id="6" name="Shape 4"/>
          <p:cNvSpPr/>
          <p:nvPr/>
        </p:nvSpPr>
        <p:spPr>
          <a:xfrm>
            <a:off x="6035040" y="1810512"/>
            <a:ext cx="411480" cy="329184"/>
          </a:xfrm>
          <a:prstGeom prst="rightArrow">
            <a:avLst/>
          </a:prstGeom>
          <a:solidFill>
            <a:srgbClr val="C4552D"/>
          </a:solidFill>
          <a:ln/>
        </p:spPr>
        <p:txBody>
          <a:bodyPr/>
          <a:lstStyle/>
          <a:p>
            <a:endParaRPr lang="fr-FR"/>
          </a:p>
        </p:txBody>
      </p:sp>
      <p:sp>
        <p:nvSpPr>
          <p:cNvPr id="7" name="Text 5"/>
          <p:cNvSpPr/>
          <p:nvPr/>
        </p:nvSpPr>
        <p:spPr>
          <a:xfrm>
            <a:off x="6583680" y="1554480"/>
            <a:ext cx="5074920" cy="841248"/>
          </a:xfrm>
          <a:prstGeom prst="rect">
            <a:avLst/>
          </a:prstGeom>
          <a:noFill/>
          <a:ln/>
        </p:spPr>
        <p:txBody>
          <a:bodyPr wrap="square" lIns="0" tIns="0" rIns="0" bIns="0" rtlCol="0" anchor="ctr"/>
          <a:lstStyle/>
          <a:p>
            <a:pPr marL="0" indent="0">
              <a:buNone/>
            </a:pPr>
            <a:r>
              <a:rPr lang="en-US" sz="1050" dirty="0">
                <a:solidFill>
                  <a:srgbClr val="6E5E4E"/>
                </a:solidFill>
                <a:latin typeface="Calibri" pitchFamily="34" charset="0"/>
                <a:ea typeface="Calibri" pitchFamily="34" charset="-122"/>
                <a:cs typeface="Calibri" pitchFamily="34" charset="-120"/>
              </a:rPr>
              <a:t>Initialisation dégénérée : plage minuscule × facteur de He → gradients évanouis. Corrigé : plage [−1, 1], He seul met à l'échelle.</a:t>
            </a:r>
            <a:endParaRPr lang="en-US" sz="1050" dirty="0"/>
          </a:p>
        </p:txBody>
      </p:sp>
      <p:sp>
        <p:nvSpPr>
          <p:cNvPr id="8" name="Shape 6"/>
          <p:cNvSpPr/>
          <p:nvPr/>
        </p:nvSpPr>
        <p:spPr>
          <a:xfrm>
            <a:off x="548640" y="2523744"/>
            <a:ext cx="5440680" cy="841248"/>
          </a:xfrm>
          <a:prstGeom prst="roundRect">
            <a:avLst>
              <a:gd name="adj" fmla="val 6522"/>
            </a:avLst>
          </a:prstGeom>
          <a:solidFill>
            <a:srgbClr val="F2EAD9"/>
          </a:solidFill>
          <a:ln/>
        </p:spPr>
        <p:txBody>
          <a:bodyPr/>
          <a:lstStyle/>
          <a:p>
            <a:endParaRPr lang="fr-FR"/>
          </a:p>
        </p:txBody>
      </p:sp>
      <p:sp>
        <p:nvSpPr>
          <p:cNvPr id="9" name="Text 7"/>
          <p:cNvSpPr/>
          <p:nvPr/>
        </p:nvSpPr>
        <p:spPr>
          <a:xfrm>
            <a:off x="777240" y="2523744"/>
            <a:ext cx="5029200" cy="841248"/>
          </a:xfrm>
          <a:prstGeom prst="rect">
            <a:avLst/>
          </a:prstGeom>
          <a:noFill/>
          <a:ln/>
        </p:spPr>
        <p:txBody>
          <a:bodyPr wrap="square" lIns="0" tIns="0" rIns="0" bIns="0" rtlCol="0" anchor="ctr"/>
          <a:lstStyle/>
          <a:p>
            <a:pPr marL="0" indent="0">
              <a:buNone/>
            </a:pPr>
            <a:r>
              <a:rPr lang="en-US" sz="1100" b="1" dirty="0">
                <a:solidFill>
                  <a:srgbClr val="2B2118"/>
                </a:solidFill>
                <a:latin typeface="Calibri" pitchFamily="34" charset="0"/>
                <a:ea typeface="Calibri" pitchFamily="34" charset="-122"/>
                <a:cs typeface="Calibri" pitchFamily="34" charset="-120"/>
              </a:rPr>
              <a:t>Distance² (0,0)→(3,4) = 16 au lieu de 25</a:t>
            </a:r>
            <a:endParaRPr lang="en-US" sz="1100" dirty="0"/>
          </a:p>
        </p:txBody>
      </p:sp>
      <p:sp>
        <p:nvSpPr>
          <p:cNvPr id="10" name="Shape 8"/>
          <p:cNvSpPr/>
          <p:nvPr/>
        </p:nvSpPr>
        <p:spPr>
          <a:xfrm>
            <a:off x="6035040" y="2779776"/>
            <a:ext cx="411480" cy="329184"/>
          </a:xfrm>
          <a:prstGeom prst="rightArrow">
            <a:avLst/>
          </a:prstGeom>
          <a:solidFill>
            <a:srgbClr val="C4552D"/>
          </a:solidFill>
          <a:ln/>
        </p:spPr>
        <p:txBody>
          <a:bodyPr/>
          <a:lstStyle/>
          <a:p>
            <a:endParaRPr lang="fr-FR"/>
          </a:p>
        </p:txBody>
      </p:sp>
      <p:sp>
        <p:nvSpPr>
          <p:cNvPr id="11" name="Text 9"/>
          <p:cNvSpPr/>
          <p:nvPr/>
        </p:nvSpPr>
        <p:spPr>
          <a:xfrm>
            <a:off x="6583680" y="2523744"/>
            <a:ext cx="5074920" cy="841248"/>
          </a:xfrm>
          <a:prstGeom prst="rect">
            <a:avLst/>
          </a:prstGeom>
          <a:noFill/>
          <a:ln/>
        </p:spPr>
        <p:txBody>
          <a:bodyPr wrap="square" lIns="0" tIns="0" rIns="0" bIns="0" rtlCol="0" anchor="ctr"/>
          <a:lstStyle/>
          <a:p>
            <a:pPr marL="0" indent="0">
              <a:buNone/>
            </a:pPr>
            <a:r>
              <a:rPr lang="en-US" sz="1050" dirty="0">
                <a:solidFill>
                  <a:srgbClr val="6E5E4E"/>
                </a:solidFill>
                <a:latin typeface="Calibri" pitchFamily="34" charset="0"/>
                <a:ea typeface="Calibri" pitchFamily="34" charset="-122"/>
                <a:cs typeface="Calibri" pitchFamily="34" charset="-120"/>
              </a:rPr>
              <a:t>Un = au lieu d'un += dans l'accumulation — attrapé par un test unitaire. Aurait faussé silencieusement RBFN et noyau RBF du SVM.</a:t>
            </a:r>
            <a:endParaRPr lang="en-US" sz="1050" dirty="0"/>
          </a:p>
        </p:txBody>
      </p:sp>
      <p:sp>
        <p:nvSpPr>
          <p:cNvPr id="12" name="Shape 10"/>
          <p:cNvSpPr/>
          <p:nvPr/>
        </p:nvSpPr>
        <p:spPr>
          <a:xfrm>
            <a:off x="548640" y="3493008"/>
            <a:ext cx="5440680" cy="841248"/>
          </a:xfrm>
          <a:prstGeom prst="roundRect">
            <a:avLst>
              <a:gd name="adj" fmla="val 6522"/>
            </a:avLst>
          </a:prstGeom>
          <a:solidFill>
            <a:srgbClr val="F2EAD9"/>
          </a:solidFill>
          <a:ln/>
        </p:spPr>
        <p:txBody>
          <a:bodyPr/>
          <a:lstStyle/>
          <a:p>
            <a:endParaRPr lang="fr-FR"/>
          </a:p>
        </p:txBody>
      </p:sp>
      <p:sp>
        <p:nvSpPr>
          <p:cNvPr id="13" name="Text 11"/>
          <p:cNvSpPr/>
          <p:nvPr/>
        </p:nvSpPr>
        <p:spPr>
          <a:xfrm>
            <a:off x="777240" y="3493008"/>
            <a:ext cx="5029200" cy="841248"/>
          </a:xfrm>
          <a:prstGeom prst="rect">
            <a:avLst/>
          </a:prstGeom>
          <a:noFill/>
          <a:ln/>
        </p:spPr>
        <p:txBody>
          <a:bodyPr wrap="square" lIns="0" tIns="0" rIns="0" bIns="0" rtlCol="0" anchor="ctr"/>
          <a:lstStyle/>
          <a:p>
            <a:pPr marL="0" indent="0">
              <a:buNone/>
            </a:pPr>
            <a:r>
              <a:rPr lang="en-US" sz="1100" b="1" dirty="0">
                <a:solidFill>
                  <a:srgbClr val="2B2118"/>
                </a:solidFill>
                <a:latin typeface="Calibri" pitchFamily="34" charset="0"/>
                <a:ea typeface="Calibri" pitchFamily="34" charset="-122"/>
                <a:cs typeface="Calibri" pitchFamily="34" charset="-120"/>
              </a:rPr>
              <a:t>Matrices singulières en 3 072 dimensions</a:t>
            </a:r>
            <a:endParaRPr lang="en-US" sz="1100" dirty="0"/>
          </a:p>
        </p:txBody>
      </p:sp>
      <p:sp>
        <p:nvSpPr>
          <p:cNvPr id="14" name="Shape 12"/>
          <p:cNvSpPr/>
          <p:nvPr/>
        </p:nvSpPr>
        <p:spPr>
          <a:xfrm>
            <a:off x="6035040" y="3749040"/>
            <a:ext cx="411480" cy="329184"/>
          </a:xfrm>
          <a:prstGeom prst="rightArrow">
            <a:avLst/>
          </a:prstGeom>
          <a:solidFill>
            <a:srgbClr val="C4552D"/>
          </a:solidFill>
          <a:ln/>
        </p:spPr>
        <p:txBody>
          <a:bodyPr/>
          <a:lstStyle/>
          <a:p>
            <a:endParaRPr lang="fr-FR"/>
          </a:p>
        </p:txBody>
      </p:sp>
      <p:sp>
        <p:nvSpPr>
          <p:cNvPr id="15" name="Text 13"/>
          <p:cNvSpPr/>
          <p:nvPr/>
        </p:nvSpPr>
        <p:spPr>
          <a:xfrm>
            <a:off x="6583680" y="3493008"/>
            <a:ext cx="5074920" cy="841248"/>
          </a:xfrm>
          <a:prstGeom prst="rect">
            <a:avLst/>
          </a:prstGeom>
          <a:noFill/>
          <a:ln/>
        </p:spPr>
        <p:txBody>
          <a:bodyPr wrap="square" lIns="0" tIns="0" rIns="0" bIns="0" rtlCol="0" anchor="ctr"/>
          <a:lstStyle/>
          <a:p>
            <a:pPr marL="0" indent="0">
              <a:buNone/>
            </a:pPr>
            <a:r>
              <a:rPr lang="en-US" sz="1050" dirty="0">
                <a:solidFill>
                  <a:srgbClr val="6E5E4E"/>
                </a:solidFill>
                <a:latin typeface="Calibri" pitchFamily="34" charset="0"/>
                <a:ea typeface="Calibri" pitchFamily="34" charset="-122"/>
                <a:cs typeface="Calibri" pitchFamily="34" charset="-120"/>
              </a:rPr>
              <a:t>Régularisation ridge : + λI sur la diagonale avant inversion. Réutilisée dans le SVM pour garantir la semi-définie positivité.</a:t>
            </a:r>
            <a:endParaRPr lang="en-US" sz="1050" dirty="0"/>
          </a:p>
        </p:txBody>
      </p:sp>
      <p:sp>
        <p:nvSpPr>
          <p:cNvPr id="16" name="Shape 14"/>
          <p:cNvSpPr/>
          <p:nvPr/>
        </p:nvSpPr>
        <p:spPr>
          <a:xfrm>
            <a:off x="548640" y="4462272"/>
            <a:ext cx="5440680" cy="841248"/>
          </a:xfrm>
          <a:prstGeom prst="roundRect">
            <a:avLst>
              <a:gd name="adj" fmla="val 6522"/>
            </a:avLst>
          </a:prstGeom>
          <a:solidFill>
            <a:srgbClr val="F2EAD9"/>
          </a:solidFill>
          <a:ln/>
        </p:spPr>
        <p:txBody>
          <a:bodyPr/>
          <a:lstStyle/>
          <a:p>
            <a:endParaRPr lang="fr-FR"/>
          </a:p>
        </p:txBody>
      </p:sp>
      <p:sp>
        <p:nvSpPr>
          <p:cNvPr id="17" name="Text 15"/>
          <p:cNvSpPr/>
          <p:nvPr/>
        </p:nvSpPr>
        <p:spPr>
          <a:xfrm>
            <a:off x="777240" y="4462272"/>
            <a:ext cx="5029200" cy="841248"/>
          </a:xfrm>
          <a:prstGeom prst="rect">
            <a:avLst/>
          </a:prstGeom>
          <a:noFill/>
          <a:ln/>
        </p:spPr>
        <p:txBody>
          <a:bodyPr wrap="square" lIns="0" tIns="0" rIns="0" bIns="0" rtlCol="0" anchor="ctr"/>
          <a:lstStyle/>
          <a:p>
            <a:pPr marL="0" indent="0">
              <a:buNone/>
            </a:pPr>
            <a:r>
              <a:rPr lang="en-US" sz="1100" b="1" dirty="0">
                <a:solidFill>
                  <a:srgbClr val="2B2118"/>
                </a:solidFill>
                <a:latin typeface="Calibri" pitchFamily="34" charset="0"/>
                <a:ea typeface="Calibri" pitchFamily="34" charset="-122"/>
                <a:cs typeface="Calibri" pitchFamily="34" charset="-120"/>
              </a:rPr>
              <a:t>SVM : 100 % apprentissage / 33,9 % test, tout prédit « lion »</a:t>
            </a:r>
            <a:endParaRPr lang="en-US" sz="1100" dirty="0"/>
          </a:p>
        </p:txBody>
      </p:sp>
      <p:sp>
        <p:nvSpPr>
          <p:cNvPr id="18" name="Shape 16"/>
          <p:cNvSpPr/>
          <p:nvPr/>
        </p:nvSpPr>
        <p:spPr>
          <a:xfrm>
            <a:off x="6035040" y="4718304"/>
            <a:ext cx="411480" cy="329184"/>
          </a:xfrm>
          <a:prstGeom prst="rightArrow">
            <a:avLst/>
          </a:prstGeom>
          <a:solidFill>
            <a:srgbClr val="C4552D"/>
          </a:solidFill>
          <a:ln/>
        </p:spPr>
        <p:txBody>
          <a:bodyPr/>
          <a:lstStyle/>
          <a:p>
            <a:endParaRPr lang="fr-FR"/>
          </a:p>
        </p:txBody>
      </p:sp>
      <p:sp>
        <p:nvSpPr>
          <p:cNvPr id="19" name="Text 17"/>
          <p:cNvSpPr/>
          <p:nvPr/>
        </p:nvSpPr>
        <p:spPr>
          <a:xfrm>
            <a:off x="6583680" y="4462272"/>
            <a:ext cx="5074920" cy="841248"/>
          </a:xfrm>
          <a:prstGeom prst="rect">
            <a:avLst/>
          </a:prstGeom>
          <a:noFill/>
          <a:ln/>
        </p:spPr>
        <p:txBody>
          <a:bodyPr wrap="square" lIns="0" tIns="0" rIns="0" bIns="0" rtlCol="0" anchor="ctr"/>
          <a:lstStyle/>
          <a:p>
            <a:pPr marL="0" indent="0">
              <a:buNone/>
            </a:pPr>
            <a:r>
              <a:rPr lang="en-US" sz="1050" dirty="0">
                <a:solidFill>
                  <a:srgbClr val="6E5E4E"/>
                </a:solidFill>
                <a:latin typeface="Calibri" pitchFamily="34" charset="0"/>
                <a:ea typeface="Calibri" pitchFamily="34" charset="-122"/>
                <a:cs typeface="Calibri" pitchFamily="34" charset="-120"/>
              </a:rPr>
              <a:t>Marge dure sans défense + haute dimension = mémorisation. Réponse : marge souple (paramètre C), sous-échantillonnage, réglage conjoint γ × C.</a:t>
            </a:r>
            <a:endParaRPr lang="en-US" sz="1050" dirty="0"/>
          </a:p>
        </p:txBody>
      </p:sp>
      <p:sp>
        <p:nvSpPr>
          <p:cNvPr id="20" name="Shape 18"/>
          <p:cNvSpPr/>
          <p:nvPr/>
        </p:nvSpPr>
        <p:spPr>
          <a:xfrm>
            <a:off x="548640" y="5431536"/>
            <a:ext cx="5440680" cy="841248"/>
          </a:xfrm>
          <a:prstGeom prst="roundRect">
            <a:avLst>
              <a:gd name="adj" fmla="val 6522"/>
            </a:avLst>
          </a:prstGeom>
          <a:solidFill>
            <a:srgbClr val="F2EAD9"/>
          </a:solidFill>
          <a:ln/>
        </p:spPr>
        <p:txBody>
          <a:bodyPr/>
          <a:lstStyle/>
          <a:p>
            <a:endParaRPr lang="fr-FR"/>
          </a:p>
        </p:txBody>
      </p:sp>
      <p:sp>
        <p:nvSpPr>
          <p:cNvPr id="21" name="Text 19"/>
          <p:cNvSpPr/>
          <p:nvPr/>
        </p:nvSpPr>
        <p:spPr>
          <a:xfrm>
            <a:off x="777240" y="5431536"/>
            <a:ext cx="5029200" cy="841248"/>
          </a:xfrm>
          <a:prstGeom prst="rect">
            <a:avLst/>
          </a:prstGeom>
          <a:noFill/>
          <a:ln/>
        </p:spPr>
        <p:txBody>
          <a:bodyPr wrap="square" lIns="0" tIns="0" rIns="0" bIns="0" rtlCol="0" anchor="ctr"/>
          <a:lstStyle/>
          <a:p>
            <a:pPr marL="0" indent="0">
              <a:buNone/>
            </a:pPr>
            <a:r>
              <a:rPr lang="en-US" sz="1100" b="1" dirty="0">
                <a:solidFill>
                  <a:srgbClr val="2B2118"/>
                </a:solidFill>
                <a:latin typeface="Calibri" pitchFamily="34" charset="0"/>
                <a:ea typeface="Calibri" pitchFamily="34" charset="-122"/>
                <a:cs typeface="Calibri" pitchFamily="34" charset="-120"/>
              </a:rPr>
              <a:t>Code perdu lors des fusions Git, carnet Jupyter vidé</a:t>
            </a:r>
            <a:endParaRPr lang="en-US" sz="1100" dirty="0"/>
          </a:p>
        </p:txBody>
      </p:sp>
      <p:sp>
        <p:nvSpPr>
          <p:cNvPr id="22" name="Shape 20"/>
          <p:cNvSpPr/>
          <p:nvPr/>
        </p:nvSpPr>
        <p:spPr>
          <a:xfrm>
            <a:off x="6035040" y="5687568"/>
            <a:ext cx="411480" cy="329184"/>
          </a:xfrm>
          <a:prstGeom prst="rightArrow">
            <a:avLst/>
          </a:prstGeom>
          <a:solidFill>
            <a:srgbClr val="C4552D"/>
          </a:solidFill>
          <a:ln/>
        </p:spPr>
        <p:txBody>
          <a:bodyPr/>
          <a:lstStyle/>
          <a:p>
            <a:endParaRPr lang="fr-FR"/>
          </a:p>
        </p:txBody>
      </p:sp>
      <p:sp>
        <p:nvSpPr>
          <p:cNvPr id="23" name="Text 21"/>
          <p:cNvSpPr/>
          <p:nvPr/>
        </p:nvSpPr>
        <p:spPr>
          <a:xfrm>
            <a:off x="6583680" y="5431536"/>
            <a:ext cx="5074920" cy="841248"/>
          </a:xfrm>
          <a:prstGeom prst="rect">
            <a:avLst/>
          </a:prstGeom>
          <a:noFill/>
          <a:ln/>
        </p:spPr>
        <p:txBody>
          <a:bodyPr wrap="square" lIns="0" tIns="0" rIns="0" bIns="0" rtlCol="0" anchor="ctr"/>
          <a:lstStyle/>
          <a:p>
            <a:pPr marL="0" indent="0">
              <a:buNone/>
            </a:pPr>
            <a:r>
              <a:rPr lang="en-US" sz="1050" dirty="0">
                <a:solidFill>
                  <a:srgbClr val="6E5E4E"/>
                </a:solidFill>
                <a:latin typeface="Calibri" pitchFamily="34" charset="0"/>
                <a:ea typeface="Calibri" pitchFamily="34" charset="-122"/>
                <a:cs typeface="Calibri" pitchFamily="34" charset="-120"/>
              </a:rPr>
              <a:t>Avertissements « variable inutilisée » traités comme signal de code disparu ; carnet retrouvé dans l'historique en filtrant les commits par taille de fichier.</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2B2118"/>
        </a:solidFill>
        <a:effectLst/>
      </p:bgPr>
    </p:bg>
    <p:spTree>
      <p:nvGrpSpPr>
        <p:cNvPr id="1" name=""/>
        <p:cNvGrpSpPr/>
        <p:nvPr/>
      </p:nvGrpSpPr>
      <p:grpSpPr>
        <a:xfrm>
          <a:off x="0" y="0"/>
          <a:ext cx="0" cy="0"/>
          <a:chOff x="0" y="0"/>
          <a:chExt cx="0" cy="0"/>
        </a:xfrm>
      </p:grpSpPr>
      <p:sp>
        <p:nvSpPr>
          <p:cNvPr id="2" name="Shape 0"/>
          <p:cNvSpPr/>
          <p:nvPr/>
        </p:nvSpPr>
        <p:spPr>
          <a:xfrm>
            <a:off x="10058400" y="4480560"/>
            <a:ext cx="3657600" cy="3657600"/>
          </a:xfrm>
          <a:prstGeom prst="ellipse">
            <a:avLst/>
          </a:prstGeom>
          <a:solidFill>
            <a:srgbClr val="C4552D">
              <a:alpha val="16000"/>
            </a:srgbClr>
          </a:solidFill>
          <a:ln/>
        </p:spPr>
        <p:txBody>
          <a:bodyPr/>
          <a:lstStyle/>
          <a:p>
            <a:endParaRPr lang="fr-FR"/>
          </a:p>
        </p:txBody>
      </p:sp>
      <p:sp>
        <p:nvSpPr>
          <p:cNvPr id="3" name="Text 1"/>
          <p:cNvSpPr/>
          <p:nvPr/>
        </p:nvSpPr>
        <p:spPr>
          <a:xfrm>
            <a:off x="731520" y="457200"/>
            <a:ext cx="1069848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 &amp; perspectives</a:t>
            </a:r>
            <a:endParaRPr lang="en-US" sz="3000" dirty="0"/>
          </a:p>
        </p:txBody>
      </p:sp>
      <p:sp>
        <p:nvSpPr>
          <p:cNvPr id="4" name="Text 2"/>
          <p:cNvSpPr/>
          <p:nvPr/>
        </p:nvSpPr>
        <p:spPr>
          <a:xfrm>
            <a:off x="731520" y="1371600"/>
            <a:ext cx="10424160" cy="4297680"/>
          </a:xfrm>
          <a:prstGeom prst="rect">
            <a:avLst/>
          </a:prstGeom>
          <a:noFill/>
          <a:ln/>
        </p:spPr>
        <p:txBody>
          <a:bodyPr wrap="square" lIns="0" tIns="0" rIns="0" bIns="0" rtlCol="0" anchor="ctr"/>
          <a:lstStyle/>
          <a:p>
            <a:pPr marL="0" indent="0">
              <a:lnSpc>
                <a:spcPct val="110000"/>
              </a:lnSpc>
              <a:buNone/>
            </a:pPr>
            <a:r>
              <a:rPr lang="en-US" sz="1400" b="1" dirty="0">
                <a:solidFill>
                  <a:srgbClr val="C4552D"/>
                </a:solidFill>
                <a:latin typeface="Calibri" pitchFamily="34" charset="0"/>
                <a:ea typeface="Calibri" pitchFamily="34" charset="-122"/>
                <a:cs typeface="Calibri" pitchFamily="34" charset="-120"/>
              </a:rPr>
              <a:t>Ce que nous livrons. </a:t>
            </a:r>
            <a:r>
              <a:rPr lang="en-US" sz="1400" dirty="0">
                <a:solidFill>
                  <a:srgbClr val="F2EAD9"/>
                </a:solidFill>
                <a:latin typeface="Calibri" pitchFamily="34" charset="0"/>
                <a:ea typeface="Calibri" pitchFamily="34" charset="-122"/>
                <a:cs typeface="Calibri" pitchFamily="34" charset="-120"/>
              </a:rPr>
              <a:t>Quatre modèles from scratch en Rust, 100+ tests unitaires, interop C/Python, interface graphique complète, et une étude expérimentale approfondie de chacun.
</a:t>
            </a:r>
            <a:r>
              <a:rPr lang="en-US" sz="1400" b="1" dirty="0">
                <a:solidFill>
                  <a:srgbClr val="C4552D"/>
                </a:solidFill>
                <a:latin typeface="Calibri" pitchFamily="34" charset="0"/>
                <a:ea typeface="Calibri" pitchFamily="34" charset="-122"/>
                <a:cs typeface="Calibri" pitchFamily="34" charset="-120"/>
              </a:rPr>
              <a:t>La thèse du projet. </a:t>
            </a:r>
            <a:r>
              <a:rPr lang="en-US" sz="1400" dirty="0">
                <a:solidFill>
                  <a:srgbClr val="F2EAD9"/>
                </a:solidFill>
                <a:latin typeface="Calibri" pitchFamily="34" charset="0"/>
                <a:ea typeface="Calibri" pitchFamily="34" charset="-122"/>
                <a:cs typeface="Calibri" pitchFamily="34" charset="-120"/>
              </a:rPr>
              <a:t>Partout, minimiser l'erreur sur les exemples s'est révélé distinct de </a:t>
            </a:r>
            <a:r>
              <a:rPr lang="en-US" sz="1400" dirty="0" err="1">
                <a:solidFill>
                  <a:srgbClr val="F2EAD9"/>
                </a:solidFill>
                <a:latin typeface="Calibri" pitchFamily="34" charset="0"/>
                <a:ea typeface="Calibri" pitchFamily="34" charset="-122"/>
                <a:cs typeface="Calibri" pitchFamily="34" charset="-120"/>
              </a:rPr>
              <a:t>généraliser</a:t>
            </a:r>
            <a:r>
              <a:rPr lang="en-US" sz="1400" dirty="0">
                <a:solidFill>
                  <a:srgbClr val="F2EAD9"/>
                </a:solidFill>
                <a:latin typeface="Calibri" pitchFamily="34" charset="0"/>
                <a:ea typeface="Calibri" pitchFamily="34" charset="-122"/>
                <a:cs typeface="Calibri" pitchFamily="34" charset="-120"/>
              </a:rPr>
              <a:t> : </a:t>
            </a:r>
            <a:r>
              <a:rPr lang="en-US" sz="1400" dirty="0" err="1">
                <a:solidFill>
                  <a:srgbClr val="F2EAD9"/>
                </a:solidFill>
                <a:latin typeface="Calibri" pitchFamily="34" charset="0"/>
                <a:ea typeface="Calibri" pitchFamily="34" charset="-122"/>
                <a:cs typeface="Calibri" pitchFamily="34" charset="-120"/>
              </a:rPr>
              <a:t>RBFn</a:t>
            </a:r>
            <a:r>
              <a:rPr lang="en-US" sz="1400" dirty="0">
                <a:solidFill>
                  <a:srgbClr val="F2EAD9"/>
                </a:solidFill>
                <a:latin typeface="Calibri" pitchFamily="34" charset="0"/>
                <a:ea typeface="Calibri" pitchFamily="34" charset="-122"/>
                <a:cs typeface="Calibri" pitchFamily="34" charset="-120"/>
              </a:rPr>
              <a:t> naïf à 100 % / 40 %, SVM à marge dure effondré. Et la représentation d'entrée s'est montrée au moins aussi déterminante que le modèle, jusqu'à changer la classe sur laquelle le système échoue.
</a:t>
            </a:r>
            <a:r>
              <a:rPr lang="en-US" sz="1400" b="1" dirty="0">
                <a:solidFill>
                  <a:srgbClr val="C4552D"/>
                </a:solidFill>
                <a:latin typeface="Calibri" pitchFamily="34" charset="0"/>
                <a:ea typeface="Calibri" pitchFamily="34" charset="-122"/>
                <a:cs typeface="Calibri" pitchFamily="34" charset="-120"/>
              </a:rPr>
              <a:t>Perspectives. </a:t>
            </a:r>
            <a:r>
              <a:rPr lang="en-US" sz="1400" dirty="0">
                <a:solidFill>
                  <a:srgbClr val="F2EAD9"/>
                </a:solidFill>
                <a:latin typeface="Calibri" pitchFamily="34" charset="0"/>
                <a:ea typeface="Calibri" pitchFamily="34" charset="-122"/>
                <a:cs typeface="Calibri" pitchFamily="34" charset="-120"/>
              </a:rPr>
              <a:t>Caractéristiques spatiales plus riches (crinière, motifs du pelage) pour attaquer la confusion lion/guépard · réduction de dimension pour les méthodes à noyau · entraînement multi-graines pour le perceptron · à terme, des architectures </a:t>
            </a:r>
            <a:r>
              <a:rPr lang="en-US" sz="1400" dirty="0" err="1">
                <a:solidFill>
                  <a:srgbClr val="F2EAD9"/>
                </a:solidFill>
                <a:latin typeface="Calibri" pitchFamily="34" charset="0"/>
                <a:ea typeface="Calibri" pitchFamily="34" charset="-122"/>
                <a:cs typeface="Calibri" pitchFamily="34" charset="-120"/>
              </a:rPr>
              <a:t>convolutives</a:t>
            </a:r>
            <a:r>
              <a:rPr lang="en-US" sz="1400" dirty="0">
                <a:solidFill>
                  <a:srgbClr val="F2EAD9"/>
                </a:solidFill>
                <a:latin typeface="Calibri" pitchFamily="34" charset="0"/>
                <a:ea typeface="Calibri" pitchFamily="34" charset="-122"/>
                <a:cs typeface="Calibri" pitchFamily="34" charset="-120"/>
              </a:rPr>
              <a:t> qui apprennent leurs propres représentations.</a:t>
            </a:r>
            <a:endParaRPr lang="en-US" sz="1400" dirty="0"/>
          </a:p>
        </p:txBody>
      </p:sp>
      <p:sp>
        <p:nvSpPr>
          <p:cNvPr id="5" name="Text 3"/>
          <p:cNvSpPr/>
          <p:nvPr/>
        </p:nvSpPr>
        <p:spPr>
          <a:xfrm>
            <a:off x="731520" y="5943600"/>
            <a:ext cx="10698480" cy="548640"/>
          </a:xfrm>
          <a:prstGeom prst="rect">
            <a:avLst/>
          </a:prstGeom>
          <a:noFill/>
          <a:ln/>
        </p:spPr>
        <p:txBody>
          <a:bodyPr wrap="square" lIns="0" tIns="0" rIns="0" bIns="0" rtlCol="0" anchor="ctr"/>
          <a:lstStyle/>
          <a:p>
            <a:pPr marL="0" indent="0">
              <a:buNone/>
            </a:pPr>
            <a:r>
              <a:rPr lang="en-US" sz="2000" b="1" i="1" dirty="0">
                <a:solidFill>
                  <a:srgbClr val="C4552D"/>
                </a:solidFill>
                <a:latin typeface="Cambria" pitchFamily="34" charset="0"/>
                <a:ea typeface="Cambria" pitchFamily="34" charset="-122"/>
                <a:cs typeface="Cambria" pitchFamily="34" charset="-120"/>
              </a:rPr>
              <a:t>Merci — place aux 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769</TotalTime>
  <Words>2478</Words>
  <Application>Microsoft Office PowerPoint</Application>
  <PresentationFormat>Grand écran</PresentationFormat>
  <Paragraphs>171</Paragraphs>
  <Slides>14</Slides>
  <Notes>14</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14</vt:i4>
      </vt:variant>
    </vt:vector>
  </HeadingPairs>
  <TitlesOfParts>
    <vt:vector size="19" baseType="lpstr">
      <vt:lpstr>Arial</vt:lpstr>
      <vt:lpstr>Calibri</vt:lpstr>
      <vt:lpstr>Cambria</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eric sang</cp:lastModifiedBy>
  <cp:revision>3</cp:revision>
  <dcterms:created xsi:type="dcterms:W3CDTF">2026-07-18T21:23:22Z</dcterms:created>
  <dcterms:modified xsi:type="dcterms:W3CDTF">2026-07-19T10:16:43Z</dcterms:modified>
</cp:coreProperties>
</file>